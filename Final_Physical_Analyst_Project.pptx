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0" r:id="rId5"/>
    <p:sldId id="259" r:id="rId6"/>
    <p:sldId id="276" r:id="rId7"/>
    <p:sldId id="278" r:id="rId8"/>
    <p:sldId id="280" r:id="rId9"/>
    <p:sldId id="279" r:id="rId10"/>
    <p:sldId id="281" r:id="rId11"/>
    <p:sldId id="266" r:id="rId12"/>
    <p:sldId id="270" r:id="rId13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140F"/>
    <a:srgbClr val="031605"/>
    <a:srgbClr val="F4F1EB"/>
    <a:srgbClr val="E2F0D9"/>
    <a:srgbClr val="016A2E"/>
    <a:srgbClr val="DBDAD4"/>
    <a:srgbClr val="DFDDD8"/>
    <a:srgbClr val="FCF9F4"/>
    <a:srgbClr val="016B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545"/>
    <p:restoredTop sz="94610"/>
  </p:normalViewPr>
  <p:slideViewPr>
    <p:cSldViewPr snapToGrid="0" snapToObjects="1">
      <p:cViewPr>
        <p:scale>
          <a:sx n="62" d="100"/>
          <a:sy n="62" d="100"/>
        </p:scale>
        <p:origin x="1248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6316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F6490-85CB-B35B-BD09-CBC07399C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118F9B-A3F4-0975-AAD4-4DFA05DED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4EC145-CC9B-D895-7868-6FDA6FE786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C8F347-F486-9CC1-CB56-50F339372B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0214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D21DE-81B4-2BC9-F554-E84036FD7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DCB06B-406E-BE3F-7846-F1925982B1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63A5CB-5C10-9CD5-9053-03831BCC2F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1F338F-645D-B07D-A943-3121F3E982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1103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0E70A-F198-3F0A-DCF6-39BC99AFA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BE59A9-6960-774F-5AFD-FADB976B6E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79E6B3-AC8F-114B-0DB1-F5117B550E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5B498B-038D-341B-3F85-F90991B6B2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030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F75FC-967D-BA5B-7B03-023FD664C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EDBB1A-A8F5-409E-1241-08088FDE1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7EE58E-272C-7FBE-7FE3-A920887F69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17A5DE-4C23-188D-92D6-2B77C0803A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9375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F0056-DE75-F19D-0ED5-6374BE33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C55C37-4730-5DF1-E425-6A63A051CF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3036AA-2A18-763E-C05B-6417A9BC56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4685D3-BC60-B4B3-6C79-6D88C45CFD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8071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6A2E">
            <a:alpha val="53065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700088"/>
            <a:ext cx="182880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609600" y="266699"/>
            <a:ext cx="241847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48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CONTEXT ENGINGEERING ·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705106" y="266700"/>
            <a:ext cx="1246659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48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SESSION / 11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6605498" y="266700"/>
            <a:ext cx="1149102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48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23 APR 2026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9600" y="1104900"/>
            <a:ext cx="816254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198" dirty="0">
                <a:solidFill>
                  <a:srgbClr val="0E141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SKILLCORNER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609600" y="1381125"/>
            <a:ext cx="8162544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TRACKING · TELEMETRY · METRICS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763125" y="1104900"/>
            <a:ext cx="815273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198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TWELVE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763125" y="1381125"/>
            <a:ext cx="8152733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CONTEXT · RETRIEVAL · NARRATIVE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09600" y="2311083"/>
            <a:ext cx="12231859" cy="3552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>
              <a:lnSpc>
                <a:spcPct val="92000"/>
              </a:lnSpc>
              <a:buNone/>
            </a:pPr>
            <a:r>
              <a:rPr lang="en-US" sz="15000" b="1" kern="0" spc="-675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From metrics </a:t>
            </a:r>
            <a:r>
              <a:rPr lang="en-US" sz="15000" i="1" kern="0" spc="-675" dirty="0">
                <a:solidFill>
                  <a:srgbClr val="6C72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</a:t>
            </a:r>
            <a:r>
              <a:rPr lang="en-US" sz="15000" b="1" kern="0" spc="-675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intelligence</a:t>
            </a:r>
            <a:r>
              <a:rPr lang="en-US" sz="15000" b="1" kern="0" spc="-675" dirty="0">
                <a:solidFill>
                  <a:srgbClr val="FF5A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15000" dirty="0"/>
          </a:p>
        </p:txBody>
      </p:sp>
      <p:sp>
        <p:nvSpPr>
          <p:cNvPr id="16" name="Text 14"/>
          <p:cNvSpPr/>
          <p:nvPr/>
        </p:nvSpPr>
        <p:spPr>
          <a:xfrm>
            <a:off x="609600" y="5218143"/>
            <a:ext cx="8633460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>
              <a:lnSpc>
                <a:spcPct val="145000"/>
              </a:lnSpc>
              <a:buNone/>
            </a:pPr>
            <a:r>
              <a:rPr lang="en-US" sz="1650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 context turns physical signals into football product value — a Twelve × SkillCorner storyboard for the Physical Analyst.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0" y="709613"/>
            <a:ext cx="182880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609600" y="947737"/>
            <a:ext cx="2124447" cy="9110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TWELVE · CONTEXT ENGINEERING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763124" y="909639"/>
            <a:ext cx="3707131" cy="323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PHYSICAL ANALYST · STORYBOARD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200" y="9286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838200" y="609600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6864533" y="609600"/>
            <a:ext cx="661467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0E141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8200" y="1281113"/>
            <a:ext cx="1710994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68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 MAP OF THE TALK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8200" y="1571625"/>
            <a:ext cx="17109948" cy="17204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900" b="1" kern="0" spc="-241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sections, one product story.</a:t>
            </a:r>
            <a:endParaRPr lang="en-US" sz="6900" dirty="0"/>
          </a:p>
        </p:txBody>
      </p:sp>
      <p:sp>
        <p:nvSpPr>
          <p:cNvPr id="7" name="Shape 5"/>
          <p:cNvSpPr/>
          <p:nvPr/>
        </p:nvSpPr>
        <p:spPr>
          <a:xfrm>
            <a:off x="838200" y="3939778"/>
            <a:ext cx="5359375" cy="4381500"/>
          </a:xfrm>
          <a:prstGeom prst="roundRect">
            <a:avLst>
              <a:gd name="adj" fmla="val 6754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1152525" y="4254103"/>
            <a:ext cx="588318" cy="6429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kern="0" spc="-144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12768" y="4482703"/>
            <a:ext cx="1612404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DEFINING THE LANGUAGE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525" y="5125641"/>
            <a:ext cx="4872647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b="1" kern="0" spc="-126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Model Qualities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1152525" y="5830491"/>
            <a:ext cx="4872647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four physical pillars that turn SkillCorner tracking rows into an analytical vocabulary the system — and the user — can reason about.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64275" y="3939778"/>
            <a:ext cx="5359375" cy="4381500"/>
          </a:xfrm>
          <a:prstGeom prst="roundRect">
            <a:avLst>
              <a:gd name="adj" fmla="val 7797"/>
            </a:avLst>
          </a:prstGeom>
          <a:solidFill>
            <a:srgbClr val="FCF9F4"/>
          </a:solidFill>
          <a:ln w="9525">
            <a:solidFill>
              <a:srgbClr val="DBDAD4"/>
            </a:solidFill>
            <a:prstDash val="solid"/>
          </a:ln>
        </p:spPr>
        <p:txBody>
          <a:bodyPr/>
          <a:lstStyle/>
          <a:p>
            <a:endParaRPr lang="pt-PT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6778600" y="4254103"/>
            <a:ext cx="588318" cy="6429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kern="0" spc="-144" dirty="0">
                <a:solidFill>
                  <a:srgbClr val="01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3600" dirty="0">
              <a:solidFill>
                <a:srgbClr val="016B2E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265718" y="4606528"/>
            <a:ext cx="131980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F4F1EA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CONTEXT LAYER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778600" y="5125641"/>
            <a:ext cx="4872647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b="1" kern="0" spc="-126" dirty="0">
                <a:solidFill>
                  <a:srgbClr val="0D14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RAG System</a:t>
            </a:r>
            <a:endParaRPr lang="en-US" sz="4200" dirty="0">
              <a:solidFill>
                <a:srgbClr val="0D140F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6778600" y="5830491"/>
            <a:ext cx="4872647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How a question becomes an answer: intent classification, retrieval of definitions and player context, prompt assembly, grounded narrative output.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677000" y="7764066"/>
            <a:ext cx="82631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55000" lnSpcReduction="2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F4F1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INTENT</a:t>
            </a:r>
            <a:endParaRPr lang="en-US" sz="900" dirty="0"/>
          </a:p>
          <a:p>
            <a:pPr marL="0" indent="0" algn="l">
              <a:buNone/>
            </a:pPr>
            <a:r>
              <a:rPr lang="en-US" sz="900" kern="0" spc="36" dirty="0">
                <a:solidFill>
                  <a:srgbClr val="F4F1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RETRIEVE</a:t>
            </a:r>
            <a:endParaRPr lang="en-US" sz="900" dirty="0"/>
          </a:p>
          <a:p>
            <a:pPr marL="0" indent="0" algn="l">
              <a:buNone/>
            </a:pPr>
            <a:r>
              <a:rPr lang="en-US" sz="900" kern="0" spc="36" dirty="0">
                <a:solidFill>
                  <a:srgbClr val="F4F1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WORDALISE</a:t>
            </a:r>
            <a:endParaRPr lang="en-US" sz="900" dirty="0"/>
          </a:p>
          <a:p>
            <a:pPr marL="0" indent="0" algn="l">
              <a:buNone/>
            </a:pPr>
            <a:r>
              <a:rPr lang="en-US" sz="900" kern="0" spc="36" dirty="0">
                <a:solidFill>
                  <a:srgbClr val="F4F1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REFUSE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2090350" y="3939778"/>
            <a:ext cx="5359450" cy="4381500"/>
          </a:xfrm>
          <a:prstGeom prst="roundRect">
            <a:avLst>
              <a:gd name="adj" fmla="val 7276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0" name="Text 18"/>
          <p:cNvSpPr/>
          <p:nvPr/>
        </p:nvSpPr>
        <p:spPr>
          <a:xfrm>
            <a:off x="12404675" y="4254103"/>
            <a:ext cx="588318" cy="6429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kern="0" spc="-144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5802309" y="4420790"/>
            <a:ext cx="1392957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PRODUCT VISION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2404675" y="5125641"/>
            <a:ext cx="4872724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b="1" kern="0" spc="-126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Storyboard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12404675" y="5830491"/>
            <a:ext cx="4872724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domains, two depths each — the sporting director's loop from a brief, into a profile, out to alternatives. A working assistant, not a dashboard.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838200" y="94249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6" name="Text 24"/>
          <p:cNvSpPr/>
          <p:nvPr/>
        </p:nvSpPr>
        <p:spPr>
          <a:xfrm>
            <a:off x="838200" y="9605963"/>
            <a:ext cx="3918015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MODEL IS THE FOUNDATION. CONTEXT IS THE PRODUCT.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6937682" y="9605963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2F0D9">
            <a:alpha val="8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12694905" y="1338935"/>
            <a:ext cx="11435426" cy="92506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81350"/>
              </a:lnSpc>
              <a:buNone/>
            </a:pPr>
            <a:r>
              <a:rPr lang="en-US" sz="40000" b="1" kern="0" spc="-2000" dirty="0">
                <a:solidFill>
                  <a:srgbClr val="006B2E">
                    <a:alpha val="8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40000" dirty="0"/>
          </a:p>
        </p:txBody>
      </p:sp>
      <p:sp>
        <p:nvSpPr>
          <p:cNvPr id="7" name="Text 5"/>
          <p:cNvSpPr/>
          <p:nvPr/>
        </p:nvSpPr>
        <p:spPr>
          <a:xfrm>
            <a:off x="838200" y="1847404"/>
            <a:ext cx="13538835" cy="4731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21000" b="1" kern="0" spc="-1050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Model Qualities</a:t>
            </a:r>
            <a:r>
              <a:rPr lang="en-US" sz="21000" b="1" kern="0" spc="-1050" dirty="0">
                <a:solidFill>
                  <a:srgbClr val="FF5A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21000" dirty="0"/>
          </a:p>
        </p:txBody>
      </p:sp>
      <p:sp>
        <p:nvSpPr>
          <p:cNvPr id="8" name="Text 6"/>
          <p:cNvSpPr/>
          <p:nvPr/>
        </p:nvSpPr>
        <p:spPr>
          <a:xfrm>
            <a:off x="838201" y="6069211"/>
            <a:ext cx="7987748" cy="18448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40000"/>
              </a:lnSpc>
            </a:pPr>
            <a:r>
              <a:rPr lang="en-US" sz="1950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Four percentile-based physical dimensions derived from </a:t>
            </a:r>
            <a:r>
              <a:rPr lang="en-US" sz="1950" dirty="0" err="1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SkillCorner</a:t>
            </a:r>
            <a:r>
              <a:rPr lang="en-US" sz="1950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tracking data — transforming raw telemetry into interpretable player profiles.</a:t>
            </a:r>
          </a:p>
          <a:p>
            <a:pPr>
              <a:lnSpc>
                <a:spcPct val="140000"/>
              </a:lnSpc>
            </a:pP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838200" y="8715375"/>
            <a:ext cx="878235" cy="461963"/>
          </a:xfrm>
          <a:prstGeom prst="roundRect">
            <a:avLst>
              <a:gd name="adj" fmla="val 50000"/>
            </a:avLst>
          </a:prstGeom>
          <a:solidFill>
            <a:schemeClr val="accent6">
              <a:lumMod val="50000"/>
            </a:schemeClr>
          </a:solidFill>
          <a:ln w="9525">
            <a:solidFill>
              <a:srgbClr val="C8C2B3"/>
            </a:solidFill>
            <a:prstDash val="solid"/>
          </a:ln>
        </p:spPr>
        <p:txBody>
          <a:bodyPr/>
          <a:lstStyle/>
          <a:p>
            <a:pPr algn="ctr"/>
            <a:r>
              <a:rPr lang="pt-PT" sz="1600" dirty="0">
                <a:solidFill>
                  <a:schemeClr val="bg1"/>
                </a:solidFill>
              </a:rPr>
              <a:t>SPEED</a:t>
            </a:r>
          </a:p>
        </p:txBody>
      </p:sp>
      <p:sp>
        <p:nvSpPr>
          <p:cNvPr id="17" name="Shape 15"/>
          <p:cNvSpPr/>
          <p:nvPr/>
        </p:nvSpPr>
        <p:spPr>
          <a:xfrm>
            <a:off x="838200" y="940593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0" name="Shape 7">
            <a:extLst>
              <a:ext uri="{FF2B5EF4-FFF2-40B4-BE49-F238E27FC236}">
                <a16:creationId xmlns:a16="http://schemas.microsoft.com/office/drawing/2014/main" id="{7F2558BC-F0CE-A193-1DF3-72F296B4F875}"/>
              </a:ext>
            </a:extLst>
          </p:cNvPr>
          <p:cNvSpPr/>
          <p:nvPr/>
        </p:nvSpPr>
        <p:spPr>
          <a:xfrm>
            <a:off x="1837494" y="8715374"/>
            <a:ext cx="1758737" cy="461963"/>
          </a:xfrm>
          <a:prstGeom prst="roundRect">
            <a:avLst>
              <a:gd name="adj" fmla="val 50000"/>
            </a:avLst>
          </a:prstGeom>
          <a:solidFill>
            <a:schemeClr val="accent6">
              <a:lumMod val="50000"/>
            </a:schemeClr>
          </a:solidFill>
          <a:ln w="9525">
            <a:solidFill>
              <a:srgbClr val="C8C2B3"/>
            </a:solidFill>
            <a:prstDash val="solid"/>
          </a:ln>
        </p:spPr>
        <p:txBody>
          <a:bodyPr/>
          <a:lstStyle/>
          <a:p>
            <a:pPr algn="ctr"/>
            <a:r>
              <a:rPr lang="pt-PT" sz="1600" dirty="0">
                <a:solidFill>
                  <a:schemeClr val="bg1"/>
                </a:solidFill>
              </a:rPr>
              <a:t>ACCELERATION</a:t>
            </a:r>
          </a:p>
        </p:txBody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C3CF2652-3DB5-4B0E-0F53-ED72266B076A}"/>
              </a:ext>
            </a:extLst>
          </p:cNvPr>
          <p:cNvSpPr/>
          <p:nvPr/>
        </p:nvSpPr>
        <p:spPr>
          <a:xfrm>
            <a:off x="3717290" y="8715374"/>
            <a:ext cx="1236871" cy="461963"/>
          </a:xfrm>
          <a:prstGeom prst="roundRect">
            <a:avLst>
              <a:gd name="adj" fmla="val 50000"/>
            </a:avLst>
          </a:prstGeom>
          <a:solidFill>
            <a:schemeClr val="accent6">
              <a:lumMod val="50000"/>
            </a:schemeClr>
          </a:solidFill>
          <a:ln w="9525">
            <a:solidFill>
              <a:srgbClr val="C8C2B3"/>
            </a:solidFill>
            <a:prstDash val="solid"/>
          </a:ln>
        </p:spPr>
        <p:txBody>
          <a:bodyPr/>
          <a:lstStyle/>
          <a:p>
            <a:pPr algn="ctr"/>
            <a:r>
              <a:rPr lang="pt-PT" sz="1600" dirty="0">
                <a:solidFill>
                  <a:schemeClr val="bg1"/>
                </a:solidFill>
              </a:rPr>
              <a:t>AGILITY</a:t>
            </a:r>
          </a:p>
        </p:txBody>
      </p:sp>
      <p:sp>
        <p:nvSpPr>
          <p:cNvPr id="22" name="Shape 7">
            <a:extLst>
              <a:ext uri="{FF2B5EF4-FFF2-40B4-BE49-F238E27FC236}">
                <a16:creationId xmlns:a16="http://schemas.microsoft.com/office/drawing/2014/main" id="{612B3286-E125-6B6E-A91D-2002A70404C1}"/>
              </a:ext>
            </a:extLst>
          </p:cNvPr>
          <p:cNvSpPr/>
          <p:nvPr/>
        </p:nvSpPr>
        <p:spPr>
          <a:xfrm>
            <a:off x="5075220" y="8715374"/>
            <a:ext cx="1607878" cy="461963"/>
          </a:xfrm>
          <a:prstGeom prst="roundRect">
            <a:avLst>
              <a:gd name="adj" fmla="val 50000"/>
            </a:avLst>
          </a:prstGeom>
          <a:solidFill>
            <a:schemeClr val="accent6">
              <a:lumMod val="50000"/>
            </a:schemeClr>
          </a:solidFill>
          <a:ln w="9525">
            <a:solidFill>
              <a:srgbClr val="C8C2B3"/>
            </a:solidFill>
            <a:prstDash val="solid"/>
          </a:ln>
        </p:spPr>
        <p:txBody>
          <a:bodyPr/>
          <a:lstStyle/>
          <a:p>
            <a:pPr algn="ctr"/>
            <a:r>
              <a:rPr lang="pt-PT" sz="1600" dirty="0">
                <a:solidFill>
                  <a:schemeClr val="bg1"/>
                </a:solidFill>
              </a:rPr>
              <a:t>ENDURANCE</a:t>
            </a:r>
          </a:p>
        </p:txBody>
      </p:sp>
      <p:sp>
        <p:nvSpPr>
          <p:cNvPr id="23" name="Text 24">
            <a:extLst>
              <a:ext uri="{FF2B5EF4-FFF2-40B4-BE49-F238E27FC236}">
                <a16:creationId xmlns:a16="http://schemas.microsoft.com/office/drawing/2014/main" id="{0C9A55EF-B615-FB37-A5E2-73279A9B6220}"/>
              </a:ext>
            </a:extLst>
          </p:cNvPr>
          <p:cNvSpPr/>
          <p:nvPr/>
        </p:nvSpPr>
        <p:spPr>
          <a:xfrm>
            <a:off x="16937682" y="9605963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15</a:t>
            </a:r>
            <a:endParaRPr lang="en-US" sz="900" dirty="0"/>
          </a:p>
        </p:txBody>
      </p:sp>
      <p:sp>
        <p:nvSpPr>
          <p:cNvPr id="24" name="Shape 0">
            <a:extLst>
              <a:ext uri="{FF2B5EF4-FFF2-40B4-BE49-F238E27FC236}">
                <a16:creationId xmlns:a16="http://schemas.microsoft.com/office/drawing/2014/main" id="{1DF2807D-B053-962E-D399-E64DEB20F847}"/>
              </a:ext>
            </a:extLst>
          </p:cNvPr>
          <p:cNvSpPr/>
          <p:nvPr/>
        </p:nvSpPr>
        <p:spPr>
          <a:xfrm>
            <a:off x="838200" y="9286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5" name="Text 1">
            <a:extLst>
              <a:ext uri="{FF2B5EF4-FFF2-40B4-BE49-F238E27FC236}">
                <a16:creationId xmlns:a16="http://schemas.microsoft.com/office/drawing/2014/main" id="{0E5600AF-7BEA-BFE8-CABA-4C072565C7D0}"/>
              </a:ext>
            </a:extLst>
          </p:cNvPr>
          <p:cNvSpPr/>
          <p:nvPr/>
        </p:nvSpPr>
        <p:spPr>
          <a:xfrm>
            <a:off x="838200" y="609600"/>
            <a:ext cx="2863129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01 — MODEL QUALITIES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200" y="9286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838200" y="1281113"/>
            <a:ext cx="1710994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68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FOUR PILLARS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8200" y="1571625"/>
            <a:ext cx="17109948" cy="8792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900" b="1" kern="0" spc="-241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Speed · Acceleration · Agility · Endurance.</a:t>
            </a:r>
            <a:endParaRPr lang="en-US" sz="6900" dirty="0"/>
          </a:p>
        </p:txBody>
      </p:sp>
      <p:sp>
        <p:nvSpPr>
          <p:cNvPr id="7" name="Shape 5"/>
          <p:cNvSpPr/>
          <p:nvPr/>
        </p:nvSpPr>
        <p:spPr>
          <a:xfrm>
            <a:off x="838200" y="2831902"/>
            <a:ext cx="4010025" cy="6293047"/>
          </a:xfrm>
          <a:prstGeom prst="roundRect">
            <a:avLst>
              <a:gd name="adj" fmla="val 5508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1076325" y="2973373"/>
            <a:ext cx="252264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63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76325" y="3321035"/>
            <a:ext cx="3639788" cy="5447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4200" b="1" kern="0" spc="-126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Speed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1086742" y="3867756"/>
            <a:ext cx="3639788" cy="479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Peak sprint velocity. Captures both absolute top speed and the ability to sustain it.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76325" y="4895624"/>
            <a:ext cx="1827014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PSV-99 (Peak Sprint Velocity)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4387155" y="4890861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55%</a:t>
            </a:r>
            <a:endParaRPr lang="en-US" sz="975" dirty="0"/>
          </a:p>
        </p:txBody>
      </p:sp>
      <p:sp>
        <p:nvSpPr>
          <p:cNvPr id="16" name="Text 14"/>
          <p:cNvSpPr/>
          <p:nvPr/>
        </p:nvSpPr>
        <p:spPr>
          <a:xfrm>
            <a:off x="1076325" y="5224236"/>
            <a:ext cx="857473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Top 5 PSV-99</a:t>
            </a:r>
            <a:endParaRPr lang="en-US" sz="975" dirty="0"/>
          </a:p>
        </p:txBody>
      </p:sp>
      <p:sp>
        <p:nvSpPr>
          <p:cNvPr id="17" name="Text 15"/>
          <p:cNvSpPr/>
          <p:nvPr/>
        </p:nvSpPr>
        <p:spPr>
          <a:xfrm>
            <a:off x="4387155" y="5219474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45%</a:t>
            </a:r>
            <a:endParaRPr lang="en-US" sz="975" dirty="0"/>
          </a:p>
        </p:txBody>
      </p:sp>
      <p:sp>
        <p:nvSpPr>
          <p:cNvPr id="20" name="Shape 18"/>
          <p:cNvSpPr/>
          <p:nvPr/>
        </p:nvSpPr>
        <p:spPr>
          <a:xfrm>
            <a:off x="5038725" y="2831902"/>
            <a:ext cx="4010025" cy="6293047"/>
          </a:xfrm>
          <a:prstGeom prst="roundRect">
            <a:avLst>
              <a:gd name="adj" fmla="val 5023"/>
            </a:avLst>
          </a:prstGeom>
          <a:solidFill>
            <a:srgbClr val="FCF9F4"/>
          </a:solidFill>
          <a:ln w="9525">
            <a:solidFill>
              <a:srgbClr val="DBDAD4"/>
            </a:solidFill>
            <a:prstDash val="solid"/>
          </a:ln>
        </p:spPr>
        <p:txBody>
          <a:bodyPr/>
          <a:lstStyle/>
          <a:p>
            <a:endParaRPr lang="pt-PT" dirty="0">
              <a:solidFill>
                <a:schemeClr val="bg1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5276850" y="2973373"/>
            <a:ext cx="252264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63" dirty="0">
                <a:solidFill>
                  <a:srgbClr val="6FD29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Q2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347347" y="2997185"/>
            <a:ext cx="153947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FFFFFF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EXPLOSIVE · 0→SPRINT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276850" y="3321035"/>
            <a:ext cx="3639788" cy="5447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4200" b="1" kern="0" spc="-126" dirty="0">
                <a:solidFill>
                  <a:srgbClr val="0D14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Acceleration</a:t>
            </a:r>
            <a:endParaRPr lang="en-US" sz="4200" dirty="0">
              <a:solidFill>
                <a:srgbClr val="0D140F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5293569" y="3868799"/>
            <a:ext cx="3639788" cy="7009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0D14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How quickly a player reaches high speed. Time-to-sprint, time-to-HSR, post-COD acceleration, explosive counts.</a:t>
            </a:r>
            <a:endParaRPr lang="en-US" sz="1200" dirty="0">
              <a:solidFill>
                <a:srgbClr val="0D140F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276850" y="5133464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26" name="Text 24"/>
          <p:cNvSpPr/>
          <p:nvPr/>
        </p:nvSpPr>
        <p:spPr>
          <a:xfrm>
            <a:off x="5276850" y="4895339"/>
            <a:ext cx="1268313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Top 3 Time to Sprint</a:t>
            </a:r>
            <a:endParaRPr lang="en-US" sz="975" dirty="0"/>
          </a:p>
        </p:txBody>
      </p:sp>
      <p:sp>
        <p:nvSpPr>
          <p:cNvPr id="27" name="Text 25"/>
          <p:cNvSpPr/>
          <p:nvPr/>
        </p:nvSpPr>
        <p:spPr>
          <a:xfrm>
            <a:off x="8587680" y="4890576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16A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30%</a:t>
            </a:r>
            <a:endParaRPr lang="en-US" sz="975" dirty="0">
              <a:solidFill>
                <a:srgbClr val="016A2E"/>
              </a:solidFill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276850" y="5462076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5276850" y="5223951"/>
            <a:ext cx="113994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Top 3 Time to HSR</a:t>
            </a:r>
            <a:endParaRPr lang="en-US" sz="975" dirty="0"/>
          </a:p>
        </p:txBody>
      </p:sp>
      <p:sp>
        <p:nvSpPr>
          <p:cNvPr id="30" name="Text 28"/>
          <p:cNvSpPr/>
          <p:nvPr/>
        </p:nvSpPr>
        <p:spPr>
          <a:xfrm>
            <a:off x="8587680" y="5219189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16A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20%</a:t>
            </a:r>
            <a:endParaRPr lang="en-US" sz="975" dirty="0">
              <a:solidFill>
                <a:srgbClr val="016A2E"/>
              </a:solidFill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276850" y="5790689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32" name="Text 30"/>
          <p:cNvSpPr/>
          <p:nvPr/>
        </p:nvSpPr>
        <p:spPr>
          <a:xfrm>
            <a:off x="5276850" y="5552564"/>
            <a:ext cx="1964978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Top 3 Time to Sprint (post-COD)</a:t>
            </a:r>
            <a:endParaRPr lang="en-US" sz="975" dirty="0"/>
          </a:p>
        </p:txBody>
      </p:sp>
      <p:sp>
        <p:nvSpPr>
          <p:cNvPr id="33" name="Text 31"/>
          <p:cNvSpPr/>
          <p:nvPr/>
        </p:nvSpPr>
        <p:spPr>
          <a:xfrm>
            <a:off x="8587680" y="5547801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16A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20%</a:t>
            </a:r>
            <a:endParaRPr lang="en-US" sz="975" dirty="0">
              <a:solidFill>
                <a:srgbClr val="016A2E"/>
              </a:solidFill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276850" y="6119301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35" name="Text 33"/>
          <p:cNvSpPr/>
          <p:nvPr/>
        </p:nvSpPr>
        <p:spPr>
          <a:xfrm>
            <a:off x="5276850" y="5881176"/>
            <a:ext cx="1836613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Top 3 Time to HSR (post-COD)</a:t>
            </a:r>
            <a:endParaRPr lang="en-US" sz="975" dirty="0"/>
          </a:p>
        </p:txBody>
      </p:sp>
      <p:sp>
        <p:nvSpPr>
          <p:cNvPr id="36" name="Text 34"/>
          <p:cNvSpPr/>
          <p:nvPr/>
        </p:nvSpPr>
        <p:spPr>
          <a:xfrm>
            <a:off x="8587680" y="5876414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16A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10%</a:t>
            </a:r>
            <a:endParaRPr lang="en-US" sz="975" dirty="0">
              <a:solidFill>
                <a:srgbClr val="016A2E"/>
              </a:solidFill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276850" y="6447914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38" name="Text 36"/>
          <p:cNvSpPr/>
          <p:nvPr/>
        </p:nvSpPr>
        <p:spPr>
          <a:xfrm>
            <a:off x="5276850" y="6209789"/>
            <a:ext cx="181882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Explosive Accel to Sprint P90</a:t>
            </a:r>
            <a:endParaRPr lang="en-US" sz="975" dirty="0"/>
          </a:p>
        </p:txBody>
      </p:sp>
      <p:sp>
        <p:nvSpPr>
          <p:cNvPr id="39" name="Text 37"/>
          <p:cNvSpPr/>
          <p:nvPr/>
        </p:nvSpPr>
        <p:spPr>
          <a:xfrm>
            <a:off x="8587680" y="6205026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16A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10%</a:t>
            </a:r>
            <a:endParaRPr lang="en-US" sz="975" dirty="0">
              <a:solidFill>
                <a:srgbClr val="016A2E"/>
              </a:solidFill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276850" y="6776526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1" name="Text 39"/>
          <p:cNvSpPr/>
          <p:nvPr/>
        </p:nvSpPr>
        <p:spPr>
          <a:xfrm>
            <a:off x="5276850" y="6538401"/>
            <a:ext cx="1690464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Explosive Accel to HSR P90</a:t>
            </a:r>
            <a:endParaRPr lang="en-US" sz="975" dirty="0"/>
          </a:p>
        </p:txBody>
      </p:sp>
      <p:sp>
        <p:nvSpPr>
          <p:cNvPr id="42" name="Text 40"/>
          <p:cNvSpPr/>
          <p:nvPr/>
        </p:nvSpPr>
        <p:spPr>
          <a:xfrm>
            <a:off x="8587680" y="6533639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16A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10%</a:t>
            </a:r>
            <a:endParaRPr lang="en-US" sz="975" dirty="0">
              <a:solidFill>
                <a:srgbClr val="016A2E"/>
              </a:solidFill>
            </a:endParaRPr>
          </a:p>
        </p:txBody>
      </p:sp>
      <p:sp>
        <p:nvSpPr>
          <p:cNvPr id="45" name="Shape 43"/>
          <p:cNvSpPr/>
          <p:nvPr/>
        </p:nvSpPr>
        <p:spPr>
          <a:xfrm>
            <a:off x="9239250" y="2831902"/>
            <a:ext cx="4010025" cy="6293047"/>
          </a:xfrm>
          <a:prstGeom prst="roundRect">
            <a:avLst>
              <a:gd name="adj" fmla="val 5508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6" name="Text 44"/>
          <p:cNvSpPr/>
          <p:nvPr/>
        </p:nvSpPr>
        <p:spPr>
          <a:xfrm>
            <a:off x="9477375" y="2973373"/>
            <a:ext cx="252264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63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Q3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9477375" y="3321035"/>
            <a:ext cx="3639788" cy="5447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4200" b="1" kern="0" spc="-126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Agility</a:t>
            </a:r>
            <a:endParaRPr lang="en-US" sz="4200" dirty="0"/>
          </a:p>
        </p:txBody>
      </p:sp>
      <p:sp>
        <p:nvSpPr>
          <p:cNvPr id="49" name="Text 47"/>
          <p:cNvSpPr/>
          <p:nvPr/>
        </p:nvSpPr>
        <p:spPr>
          <a:xfrm>
            <a:off x="9477375" y="3867756"/>
            <a:ext cx="3639788" cy="479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Change of direction. Frequency in match plus 505-test times at 90° and 180°.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9477375" y="4911074"/>
            <a:ext cx="192166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Change of Direction Count P90</a:t>
            </a:r>
            <a:endParaRPr lang="en-US" sz="975" dirty="0"/>
          </a:p>
        </p:txBody>
      </p:sp>
      <p:sp>
        <p:nvSpPr>
          <p:cNvPr id="52" name="Text 50"/>
          <p:cNvSpPr/>
          <p:nvPr/>
        </p:nvSpPr>
        <p:spPr>
          <a:xfrm>
            <a:off x="12788205" y="4906311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50%</a:t>
            </a:r>
            <a:endParaRPr lang="en-US" sz="975" dirty="0"/>
          </a:p>
        </p:txBody>
      </p:sp>
      <p:sp>
        <p:nvSpPr>
          <p:cNvPr id="54" name="Text 52"/>
          <p:cNvSpPr/>
          <p:nvPr/>
        </p:nvSpPr>
        <p:spPr>
          <a:xfrm>
            <a:off x="9477375" y="5239686"/>
            <a:ext cx="1525265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Top 3 Time to 505 @ 90°</a:t>
            </a:r>
            <a:endParaRPr lang="en-US" sz="975" dirty="0"/>
          </a:p>
        </p:txBody>
      </p:sp>
      <p:sp>
        <p:nvSpPr>
          <p:cNvPr id="55" name="Text 53"/>
          <p:cNvSpPr/>
          <p:nvPr/>
        </p:nvSpPr>
        <p:spPr>
          <a:xfrm>
            <a:off x="12788205" y="5234924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25%</a:t>
            </a:r>
            <a:endParaRPr lang="en-US" sz="975" dirty="0"/>
          </a:p>
        </p:txBody>
      </p:sp>
      <p:sp>
        <p:nvSpPr>
          <p:cNvPr id="57" name="Text 55"/>
          <p:cNvSpPr/>
          <p:nvPr/>
        </p:nvSpPr>
        <p:spPr>
          <a:xfrm>
            <a:off x="9477375" y="5568299"/>
            <a:ext cx="1578322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Top 3 Time to 505 @ 180°</a:t>
            </a:r>
            <a:endParaRPr lang="en-US" sz="975" dirty="0"/>
          </a:p>
        </p:txBody>
      </p:sp>
      <p:sp>
        <p:nvSpPr>
          <p:cNvPr id="58" name="Text 56"/>
          <p:cNvSpPr/>
          <p:nvPr/>
        </p:nvSpPr>
        <p:spPr>
          <a:xfrm>
            <a:off x="12788205" y="5563536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25%</a:t>
            </a:r>
            <a:endParaRPr lang="en-US" sz="975" dirty="0"/>
          </a:p>
        </p:txBody>
      </p:sp>
      <p:sp>
        <p:nvSpPr>
          <p:cNvPr id="61" name="Shape 59"/>
          <p:cNvSpPr/>
          <p:nvPr/>
        </p:nvSpPr>
        <p:spPr>
          <a:xfrm>
            <a:off x="13439775" y="2831902"/>
            <a:ext cx="4010025" cy="6293047"/>
          </a:xfrm>
          <a:prstGeom prst="roundRect">
            <a:avLst>
              <a:gd name="adj" fmla="val 7449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2" name="Text 60"/>
          <p:cNvSpPr/>
          <p:nvPr/>
        </p:nvSpPr>
        <p:spPr>
          <a:xfrm>
            <a:off x="13677900" y="2973373"/>
            <a:ext cx="252264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63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Q4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13677900" y="3321035"/>
            <a:ext cx="3639788" cy="5447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4200" b="1" kern="0" spc="-126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Endurance</a:t>
            </a:r>
            <a:endParaRPr lang="en-US" sz="4200" dirty="0"/>
          </a:p>
        </p:txBody>
      </p:sp>
      <p:sp>
        <p:nvSpPr>
          <p:cNvPr id="65" name="Text 63"/>
          <p:cNvSpPr/>
          <p:nvPr/>
        </p:nvSpPr>
        <p:spPr>
          <a:xfrm>
            <a:off x="13648087" y="3868799"/>
            <a:ext cx="3639788" cy="7009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Sustained output over a match. Metres per minute, total distance, running and high-speed running.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3677900" y="4895339"/>
            <a:ext cx="117365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Metres per Minute</a:t>
            </a:r>
            <a:endParaRPr lang="en-US" sz="975" dirty="0"/>
          </a:p>
        </p:txBody>
      </p:sp>
      <p:sp>
        <p:nvSpPr>
          <p:cNvPr id="68" name="Text 66"/>
          <p:cNvSpPr/>
          <p:nvPr/>
        </p:nvSpPr>
        <p:spPr>
          <a:xfrm>
            <a:off x="16988730" y="4890576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30%</a:t>
            </a:r>
            <a:endParaRPr lang="en-US" sz="975" dirty="0"/>
          </a:p>
        </p:txBody>
      </p:sp>
      <p:sp>
        <p:nvSpPr>
          <p:cNvPr id="70" name="Text 68"/>
          <p:cNvSpPr/>
          <p:nvPr/>
        </p:nvSpPr>
        <p:spPr>
          <a:xfrm>
            <a:off x="13677900" y="5223951"/>
            <a:ext cx="1189434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Total Distance P90</a:t>
            </a:r>
            <a:endParaRPr lang="en-US" sz="975" dirty="0"/>
          </a:p>
        </p:txBody>
      </p:sp>
      <p:sp>
        <p:nvSpPr>
          <p:cNvPr id="71" name="Text 69"/>
          <p:cNvSpPr/>
          <p:nvPr/>
        </p:nvSpPr>
        <p:spPr>
          <a:xfrm>
            <a:off x="16988730" y="5219189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25%</a:t>
            </a:r>
            <a:endParaRPr lang="en-US" sz="975" dirty="0"/>
          </a:p>
        </p:txBody>
      </p:sp>
      <p:sp>
        <p:nvSpPr>
          <p:cNvPr id="73" name="Text 71"/>
          <p:cNvSpPr/>
          <p:nvPr/>
        </p:nvSpPr>
        <p:spPr>
          <a:xfrm>
            <a:off x="13677900" y="5552564"/>
            <a:ext cx="1388418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Running Distance P90</a:t>
            </a:r>
            <a:endParaRPr lang="en-US" sz="975" dirty="0"/>
          </a:p>
        </p:txBody>
      </p:sp>
      <p:sp>
        <p:nvSpPr>
          <p:cNvPr id="74" name="Text 72"/>
          <p:cNvSpPr/>
          <p:nvPr/>
        </p:nvSpPr>
        <p:spPr>
          <a:xfrm>
            <a:off x="16988730" y="5547801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25%</a:t>
            </a:r>
            <a:endParaRPr lang="en-US" sz="975" dirty="0"/>
          </a:p>
        </p:txBody>
      </p:sp>
      <p:sp>
        <p:nvSpPr>
          <p:cNvPr id="76" name="Text 74"/>
          <p:cNvSpPr/>
          <p:nvPr/>
        </p:nvSpPr>
        <p:spPr>
          <a:xfrm>
            <a:off x="13677900" y="5881176"/>
            <a:ext cx="1132136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HSR Distance P90</a:t>
            </a:r>
            <a:endParaRPr lang="en-US" sz="975" dirty="0"/>
          </a:p>
        </p:txBody>
      </p:sp>
      <p:sp>
        <p:nvSpPr>
          <p:cNvPr id="77" name="Text 75"/>
          <p:cNvSpPr/>
          <p:nvPr/>
        </p:nvSpPr>
        <p:spPr>
          <a:xfrm>
            <a:off x="16988730" y="5876414"/>
            <a:ext cx="299145" cy="204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06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20%</a:t>
            </a:r>
            <a:endParaRPr lang="en-US" sz="975" dirty="0"/>
          </a:p>
        </p:txBody>
      </p:sp>
      <p:sp>
        <p:nvSpPr>
          <p:cNvPr id="81" name="Text 79"/>
          <p:cNvSpPr/>
          <p:nvPr/>
        </p:nvSpPr>
        <p:spPr>
          <a:xfrm>
            <a:off x="838200" y="9605963"/>
            <a:ext cx="6781144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 LOWER-IS-BETTER METRICS INVERTED IN SCORING · ALL METRICS COMPUTED WITHIN POSITION GROUP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16937682" y="9605963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15</a:t>
            </a:r>
            <a:endParaRPr lang="en-US" sz="900" dirty="0"/>
          </a:p>
        </p:txBody>
      </p:sp>
      <p:sp>
        <p:nvSpPr>
          <p:cNvPr id="83" name="Shape 23">
            <a:extLst>
              <a:ext uri="{FF2B5EF4-FFF2-40B4-BE49-F238E27FC236}">
                <a16:creationId xmlns:a16="http://schemas.microsoft.com/office/drawing/2014/main" id="{1E48112F-A5FC-6377-9486-99F71AA18820}"/>
              </a:ext>
            </a:extLst>
          </p:cNvPr>
          <p:cNvSpPr/>
          <p:nvPr/>
        </p:nvSpPr>
        <p:spPr>
          <a:xfrm>
            <a:off x="1068979" y="5128701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86" name="Shape 23">
            <a:extLst>
              <a:ext uri="{FF2B5EF4-FFF2-40B4-BE49-F238E27FC236}">
                <a16:creationId xmlns:a16="http://schemas.microsoft.com/office/drawing/2014/main" id="{46BEDEC6-0A24-18BD-CE61-DE609C7D3741}"/>
              </a:ext>
            </a:extLst>
          </p:cNvPr>
          <p:cNvSpPr/>
          <p:nvPr/>
        </p:nvSpPr>
        <p:spPr>
          <a:xfrm>
            <a:off x="1076323" y="5466838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89" name="Shape 23">
            <a:extLst>
              <a:ext uri="{FF2B5EF4-FFF2-40B4-BE49-F238E27FC236}">
                <a16:creationId xmlns:a16="http://schemas.microsoft.com/office/drawing/2014/main" id="{766588E6-7772-9D1C-8DB5-2EF1FC4EA8EF}"/>
              </a:ext>
            </a:extLst>
          </p:cNvPr>
          <p:cNvSpPr/>
          <p:nvPr/>
        </p:nvSpPr>
        <p:spPr>
          <a:xfrm>
            <a:off x="9477374" y="5128827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90" name="Shape 23">
            <a:extLst>
              <a:ext uri="{FF2B5EF4-FFF2-40B4-BE49-F238E27FC236}">
                <a16:creationId xmlns:a16="http://schemas.microsoft.com/office/drawing/2014/main" id="{5753AB36-0FAF-3D16-7FCB-E15B78F0DA9E}"/>
              </a:ext>
            </a:extLst>
          </p:cNvPr>
          <p:cNvSpPr/>
          <p:nvPr/>
        </p:nvSpPr>
        <p:spPr>
          <a:xfrm>
            <a:off x="9477373" y="5457313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91" name="Shape 23">
            <a:extLst>
              <a:ext uri="{FF2B5EF4-FFF2-40B4-BE49-F238E27FC236}">
                <a16:creationId xmlns:a16="http://schemas.microsoft.com/office/drawing/2014/main" id="{67D41C5F-7FAF-1F45-C340-C878A6AC0D9C}"/>
              </a:ext>
            </a:extLst>
          </p:cNvPr>
          <p:cNvSpPr/>
          <p:nvPr/>
        </p:nvSpPr>
        <p:spPr>
          <a:xfrm>
            <a:off x="9477372" y="5790688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92" name="Shape 23">
            <a:extLst>
              <a:ext uri="{FF2B5EF4-FFF2-40B4-BE49-F238E27FC236}">
                <a16:creationId xmlns:a16="http://schemas.microsoft.com/office/drawing/2014/main" id="{D7215BC0-65BE-7475-CEE2-A135938C4A6D}"/>
              </a:ext>
            </a:extLst>
          </p:cNvPr>
          <p:cNvSpPr/>
          <p:nvPr/>
        </p:nvSpPr>
        <p:spPr>
          <a:xfrm>
            <a:off x="13677899" y="5131942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93" name="Shape 23">
            <a:extLst>
              <a:ext uri="{FF2B5EF4-FFF2-40B4-BE49-F238E27FC236}">
                <a16:creationId xmlns:a16="http://schemas.microsoft.com/office/drawing/2014/main" id="{0A9D56F8-51F2-50B2-D71D-EA87B30DDE40}"/>
              </a:ext>
            </a:extLst>
          </p:cNvPr>
          <p:cNvSpPr/>
          <p:nvPr/>
        </p:nvSpPr>
        <p:spPr>
          <a:xfrm>
            <a:off x="13677899" y="5460455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94" name="Shape 23">
            <a:extLst>
              <a:ext uri="{FF2B5EF4-FFF2-40B4-BE49-F238E27FC236}">
                <a16:creationId xmlns:a16="http://schemas.microsoft.com/office/drawing/2014/main" id="{A6D60456-0745-FCDD-2D9C-5680954CA8E3}"/>
              </a:ext>
            </a:extLst>
          </p:cNvPr>
          <p:cNvSpPr/>
          <p:nvPr/>
        </p:nvSpPr>
        <p:spPr>
          <a:xfrm>
            <a:off x="13677898" y="5795451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95" name="Shape 23">
            <a:extLst>
              <a:ext uri="{FF2B5EF4-FFF2-40B4-BE49-F238E27FC236}">
                <a16:creationId xmlns:a16="http://schemas.microsoft.com/office/drawing/2014/main" id="{286E022C-BB73-AFCD-B473-A1E3C0950408}"/>
              </a:ext>
            </a:extLst>
          </p:cNvPr>
          <p:cNvSpPr/>
          <p:nvPr/>
        </p:nvSpPr>
        <p:spPr>
          <a:xfrm>
            <a:off x="13671285" y="6109776"/>
            <a:ext cx="3533775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solidFill>
              <a:srgbClr val="DFDDD8"/>
            </a:solidFill>
          </a:ln>
        </p:spPr>
        <p:txBody>
          <a:bodyPr/>
          <a:lstStyle/>
          <a:p>
            <a:endParaRPr lang="pt-PT">
              <a:solidFill>
                <a:srgbClr val="0D140F"/>
              </a:solidFill>
            </a:endParaRPr>
          </a:p>
        </p:txBody>
      </p:sp>
      <p:sp>
        <p:nvSpPr>
          <p:cNvPr id="100" name="Shape 22">
            <a:extLst>
              <a:ext uri="{FF2B5EF4-FFF2-40B4-BE49-F238E27FC236}">
                <a16:creationId xmlns:a16="http://schemas.microsoft.com/office/drawing/2014/main" id="{78E4ABAE-C1C2-940D-68DF-831FEAD0E4D8}"/>
              </a:ext>
            </a:extLst>
          </p:cNvPr>
          <p:cNvSpPr/>
          <p:nvPr/>
        </p:nvSpPr>
        <p:spPr>
          <a:xfrm>
            <a:off x="838200" y="94249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3" name="Text 1">
            <a:extLst>
              <a:ext uri="{FF2B5EF4-FFF2-40B4-BE49-F238E27FC236}">
                <a16:creationId xmlns:a16="http://schemas.microsoft.com/office/drawing/2014/main" id="{37228545-D0D2-EE38-7FA9-535B21F55744}"/>
              </a:ext>
            </a:extLst>
          </p:cNvPr>
          <p:cNvSpPr/>
          <p:nvPr/>
        </p:nvSpPr>
        <p:spPr>
          <a:xfrm>
            <a:off x="838200" y="609600"/>
            <a:ext cx="2863129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01 — MODEL QUALITIES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Conexão Reta 59">
            <a:extLst>
              <a:ext uri="{FF2B5EF4-FFF2-40B4-BE49-F238E27FC236}">
                <a16:creationId xmlns:a16="http://schemas.microsoft.com/office/drawing/2014/main" id="{172640E6-37EB-BC27-83AA-5AC02C763C3B}"/>
              </a:ext>
            </a:extLst>
          </p:cNvPr>
          <p:cNvCxnSpPr>
            <a:cxnSpLocks/>
          </p:cNvCxnSpPr>
          <p:nvPr/>
        </p:nvCxnSpPr>
        <p:spPr>
          <a:xfrm>
            <a:off x="13401606" y="1467520"/>
            <a:ext cx="0" cy="7289650"/>
          </a:xfrm>
          <a:prstGeom prst="line">
            <a:avLst/>
          </a:prstGeom>
          <a:ln w="57150">
            <a:solidFill>
              <a:schemeClr val="bg2">
                <a:lumMod val="1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Oval 83">
            <a:extLst>
              <a:ext uri="{FF2B5EF4-FFF2-40B4-BE49-F238E27FC236}">
                <a16:creationId xmlns:a16="http://schemas.microsoft.com/office/drawing/2014/main" id="{B5CBBCB2-5C22-F656-4174-35641E5E7C89}"/>
              </a:ext>
            </a:extLst>
          </p:cNvPr>
          <p:cNvSpPr/>
          <p:nvPr/>
        </p:nvSpPr>
        <p:spPr>
          <a:xfrm>
            <a:off x="13065218" y="1752913"/>
            <a:ext cx="684000" cy="684000"/>
          </a:xfrm>
          <a:prstGeom prst="ellipse">
            <a:avLst/>
          </a:prstGeom>
          <a:solidFill>
            <a:srgbClr val="F4F1EB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1600" b="1" dirty="0"/>
          </a:p>
        </p:txBody>
      </p:sp>
      <p:sp>
        <p:nvSpPr>
          <p:cNvPr id="2" name="Shape 0"/>
          <p:cNvSpPr/>
          <p:nvPr/>
        </p:nvSpPr>
        <p:spPr>
          <a:xfrm>
            <a:off x="838200" y="9286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838200" y="609600"/>
            <a:ext cx="2863129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01 — MODEL QUALITIES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1159" y="4349296"/>
            <a:ext cx="5268367" cy="1431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pt-PT" dirty="0" err="1"/>
              <a:t>Each</a:t>
            </a:r>
            <a:r>
              <a:rPr lang="pt-PT" dirty="0"/>
              <a:t> </a:t>
            </a:r>
            <a:r>
              <a:rPr lang="pt-PT" dirty="0" err="1"/>
              <a:t>pillar</a:t>
            </a:r>
            <a:r>
              <a:rPr lang="pt-PT" dirty="0"/>
              <a:t> </a:t>
            </a:r>
            <a:r>
              <a:rPr lang="pt-PT" dirty="0" err="1"/>
              <a:t>is</a:t>
            </a:r>
            <a:r>
              <a:rPr lang="pt-PT" dirty="0"/>
              <a:t> </a:t>
            </a:r>
            <a:r>
              <a:rPr lang="pt-PT" dirty="0" err="1"/>
              <a:t>computed</a:t>
            </a:r>
            <a:r>
              <a:rPr lang="pt-PT" dirty="0"/>
              <a:t> </a:t>
            </a:r>
            <a:r>
              <a:rPr lang="pt-PT" dirty="0" err="1"/>
              <a:t>from</a:t>
            </a:r>
            <a:r>
              <a:rPr lang="pt-PT" dirty="0"/>
              <a:t> </a:t>
            </a:r>
            <a:r>
              <a:rPr lang="pt-PT" dirty="0" err="1"/>
              <a:t>aggregated</a:t>
            </a:r>
            <a:r>
              <a:rPr lang="pt-PT" dirty="0"/>
              <a:t> </a:t>
            </a:r>
            <a:r>
              <a:rPr lang="pt-PT" dirty="0" err="1"/>
              <a:t>tracking</a:t>
            </a:r>
            <a:r>
              <a:rPr lang="pt-PT" dirty="0"/>
              <a:t> </a:t>
            </a:r>
            <a:r>
              <a:rPr lang="pt-PT" dirty="0" err="1"/>
              <a:t>metrics</a:t>
            </a:r>
            <a:r>
              <a:rPr lang="pt-PT" dirty="0"/>
              <a:t>, </a:t>
            </a:r>
            <a:r>
              <a:rPr lang="pt-PT" dirty="0" err="1"/>
              <a:t>normalised</a:t>
            </a:r>
            <a:r>
              <a:rPr lang="pt-PT" dirty="0"/>
              <a:t> </a:t>
            </a:r>
            <a:r>
              <a:rPr lang="pt-PT" dirty="0" err="1"/>
              <a:t>within</a:t>
            </a:r>
            <a:r>
              <a:rPr lang="pt-PT" dirty="0"/>
              <a:t> </a:t>
            </a:r>
            <a:r>
              <a:rPr lang="pt-PT" dirty="0" err="1"/>
              <a:t>position</a:t>
            </a:r>
            <a:r>
              <a:rPr lang="pt-PT" dirty="0"/>
              <a:t> </a:t>
            </a:r>
            <a:r>
              <a:rPr lang="pt-PT" dirty="0" err="1"/>
              <a:t>groups</a:t>
            </a:r>
            <a:r>
              <a:rPr lang="pt-PT" dirty="0"/>
              <a:t>, </a:t>
            </a:r>
            <a:r>
              <a:rPr lang="pt-PT" dirty="0" err="1"/>
              <a:t>weighted</a:t>
            </a:r>
            <a:r>
              <a:rPr lang="pt-PT" dirty="0"/>
              <a:t> </a:t>
            </a:r>
            <a:r>
              <a:rPr lang="pt-PT" dirty="0" err="1"/>
              <a:t>transparently</a:t>
            </a:r>
            <a:r>
              <a:rPr lang="pt-PT" dirty="0"/>
              <a:t>,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converted</a:t>
            </a:r>
            <a:r>
              <a:rPr lang="pt-PT" dirty="0"/>
              <a:t> </a:t>
            </a:r>
            <a:r>
              <a:rPr lang="pt-PT" dirty="0" err="1"/>
              <a:t>into</a:t>
            </a:r>
            <a:r>
              <a:rPr lang="pt-PT" dirty="0"/>
              <a:t> </a:t>
            </a:r>
            <a:r>
              <a:rPr lang="pt-PT" dirty="0" err="1"/>
              <a:t>percentile-based</a:t>
            </a:r>
            <a:r>
              <a:rPr lang="pt-PT" dirty="0"/>
              <a:t> </a:t>
            </a:r>
            <a:r>
              <a:rPr lang="pt-PT" dirty="0" err="1"/>
              <a:t>player</a:t>
            </a:r>
            <a:r>
              <a:rPr lang="pt-PT" dirty="0"/>
              <a:t> </a:t>
            </a:r>
            <a:r>
              <a:rPr lang="pt-PT" dirty="0" err="1"/>
              <a:t>profiles</a:t>
            </a:r>
            <a:r>
              <a:rPr lang="pt-PT" dirty="0"/>
              <a:t>.</a:t>
            </a:r>
          </a:p>
          <a:p>
            <a:pPr>
              <a:lnSpc>
                <a:spcPct val="150000"/>
              </a:lnSpc>
            </a:pP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838200" y="94249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5" name="Text 23"/>
          <p:cNvSpPr/>
          <p:nvPr/>
        </p:nvSpPr>
        <p:spPr>
          <a:xfrm>
            <a:off x="838200" y="9605963"/>
            <a:ext cx="437007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SOURCE: SKILLCORNER PHYSICAL DATA — PREMIER LEAGUE 2024/25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6937682" y="9605963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15</a:t>
            </a:r>
            <a:endParaRPr lang="en-US" sz="900" dirty="0"/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20B4E18D-51E2-5173-BBD6-421C7A2DCD0A}"/>
              </a:ext>
            </a:extLst>
          </p:cNvPr>
          <p:cNvSpPr/>
          <p:nvPr/>
        </p:nvSpPr>
        <p:spPr>
          <a:xfrm>
            <a:off x="11264954" y="1874967"/>
            <a:ext cx="1621848" cy="5314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r">
              <a:buNone/>
            </a:pPr>
            <a:r>
              <a:rPr lang="en-US" sz="3000" b="1" kern="0" spc="-31" dirty="0">
                <a:solidFill>
                  <a:srgbClr val="15140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Aggregate</a:t>
            </a:r>
            <a:endParaRPr lang="en-US" sz="2100" dirty="0"/>
          </a:p>
        </p:txBody>
      </p:sp>
      <p:sp>
        <p:nvSpPr>
          <p:cNvPr id="32" name="Text 26">
            <a:extLst>
              <a:ext uri="{FF2B5EF4-FFF2-40B4-BE49-F238E27FC236}">
                <a16:creationId xmlns:a16="http://schemas.microsoft.com/office/drawing/2014/main" id="{243C425E-B0FA-3E44-C841-DCEA4B16D142}"/>
              </a:ext>
            </a:extLst>
          </p:cNvPr>
          <p:cNvSpPr/>
          <p:nvPr/>
        </p:nvSpPr>
        <p:spPr>
          <a:xfrm>
            <a:off x="10474803" y="2420805"/>
            <a:ext cx="2412000" cy="8352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just">
              <a:lnSpc>
                <a:spcPct val="155000"/>
              </a:lnSpc>
              <a:buNone/>
            </a:pPr>
            <a:r>
              <a:rPr lang="en-US" sz="1100" dirty="0">
                <a:solidFill>
                  <a:srgbClr val="3A38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Per‑90 rates, peak metrics and top‑N means rolled up across a full season — never a single match.</a:t>
            </a:r>
            <a:endParaRPr lang="en-US" sz="1100" dirty="0"/>
          </a:p>
        </p:txBody>
      </p:sp>
      <p:sp>
        <p:nvSpPr>
          <p:cNvPr id="33" name="Shape 27">
            <a:extLst>
              <a:ext uri="{FF2B5EF4-FFF2-40B4-BE49-F238E27FC236}">
                <a16:creationId xmlns:a16="http://schemas.microsoft.com/office/drawing/2014/main" id="{E9B529A5-2145-D0B9-27C8-785BE26DC606}"/>
              </a:ext>
            </a:extLst>
          </p:cNvPr>
          <p:cNvSpPr/>
          <p:nvPr/>
        </p:nvSpPr>
        <p:spPr>
          <a:xfrm>
            <a:off x="10474802" y="3269708"/>
            <a:ext cx="2412000" cy="9525"/>
          </a:xfrm>
          <a:prstGeom prst="rect">
            <a:avLst/>
          </a:prstGeom>
          <a:solidFill>
            <a:srgbClr val="C8C0AD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4174F8DA-48E6-BD8A-F9F8-4ECD5EC7873A}"/>
              </a:ext>
            </a:extLst>
          </p:cNvPr>
          <p:cNvSpPr/>
          <p:nvPr/>
        </p:nvSpPr>
        <p:spPr>
          <a:xfrm>
            <a:off x="10477180" y="3328559"/>
            <a:ext cx="240962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r">
              <a:lnSpc>
                <a:spcPct val="160000"/>
              </a:lnSpc>
              <a:buNone/>
            </a:pPr>
            <a:r>
              <a:rPr lang="en-US" sz="750" kern="0" spc="90" dirty="0">
                <a:solidFill>
                  <a:srgbClr val="6B675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INPUTS · </a:t>
            </a:r>
            <a:r>
              <a:rPr lang="en-US" sz="750" kern="0" spc="90" dirty="0">
                <a:solidFill>
                  <a:srgbClr val="1514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~3,200 ROWS / MATCH </a:t>
            </a:r>
            <a:r>
              <a:rPr lang="en-US" sz="750" kern="0" spc="90" dirty="0">
                <a:solidFill>
                  <a:srgbClr val="6B675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FLOOR · </a:t>
            </a:r>
            <a:r>
              <a:rPr lang="en-US" sz="750" kern="0" spc="90" dirty="0">
                <a:solidFill>
                  <a:srgbClr val="1514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450 MIN</a:t>
            </a:r>
            <a:endParaRPr lang="en-US" sz="750" dirty="0"/>
          </a:p>
        </p:txBody>
      </p:sp>
      <p:sp>
        <p:nvSpPr>
          <p:cNvPr id="39" name="Text 33">
            <a:extLst>
              <a:ext uri="{FF2B5EF4-FFF2-40B4-BE49-F238E27FC236}">
                <a16:creationId xmlns:a16="http://schemas.microsoft.com/office/drawing/2014/main" id="{F35F7857-B1A3-4F0A-BBE3-ECB1DBDF6590}"/>
              </a:ext>
            </a:extLst>
          </p:cNvPr>
          <p:cNvSpPr/>
          <p:nvPr/>
        </p:nvSpPr>
        <p:spPr>
          <a:xfrm>
            <a:off x="13927634" y="3637465"/>
            <a:ext cx="2073363" cy="556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kern="0" spc="-31" dirty="0">
                <a:solidFill>
                  <a:srgbClr val="15140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Normalise</a:t>
            </a:r>
            <a:endParaRPr lang="en-US" sz="3000" dirty="0"/>
          </a:p>
        </p:txBody>
      </p:sp>
      <p:sp>
        <p:nvSpPr>
          <p:cNvPr id="40" name="Text 34">
            <a:extLst>
              <a:ext uri="{FF2B5EF4-FFF2-40B4-BE49-F238E27FC236}">
                <a16:creationId xmlns:a16="http://schemas.microsoft.com/office/drawing/2014/main" id="{E3B4F0F3-D2F6-D6F8-7125-F6CBD3966ED2}"/>
              </a:ext>
            </a:extLst>
          </p:cNvPr>
          <p:cNvSpPr/>
          <p:nvPr/>
        </p:nvSpPr>
        <p:spPr>
          <a:xfrm>
            <a:off x="13927634" y="4257080"/>
            <a:ext cx="2457937" cy="8352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just">
              <a:lnSpc>
                <a:spcPct val="155000"/>
              </a:lnSpc>
              <a:buNone/>
            </a:pPr>
            <a:r>
              <a:rPr lang="en-US" sz="1013" dirty="0">
                <a:solidFill>
                  <a:srgbClr val="3A38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Z‑scored within position group. Wide attackers vs wide attackers — never against centre‑backs.</a:t>
            </a:r>
            <a:endParaRPr lang="en-US" sz="1013" dirty="0"/>
          </a:p>
        </p:txBody>
      </p:sp>
      <p:sp>
        <p:nvSpPr>
          <p:cNvPr id="42" name="Text 36">
            <a:extLst>
              <a:ext uri="{FF2B5EF4-FFF2-40B4-BE49-F238E27FC236}">
                <a16:creationId xmlns:a16="http://schemas.microsoft.com/office/drawing/2014/main" id="{4F827D2D-EE57-BB87-DC44-75D3961E4A2F}"/>
              </a:ext>
            </a:extLst>
          </p:cNvPr>
          <p:cNvSpPr/>
          <p:nvPr/>
        </p:nvSpPr>
        <p:spPr>
          <a:xfrm>
            <a:off x="13910897" y="5144980"/>
            <a:ext cx="251761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750" kern="0" spc="90" dirty="0">
                <a:solidFill>
                  <a:srgbClr val="6B675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COHORTS · </a:t>
            </a:r>
            <a:r>
              <a:rPr lang="en-US" sz="750" kern="0" spc="90" dirty="0">
                <a:solidFill>
                  <a:srgbClr val="1514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 GROUPS </a:t>
            </a:r>
            <a:r>
              <a:rPr lang="en-US" sz="750" kern="0" spc="90" dirty="0">
                <a:solidFill>
                  <a:srgbClr val="6B675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METHOD · </a:t>
            </a:r>
            <a:r>
              <a:rPr lang="en-US" sz="750" kern="0" spc="90" dirty="0">
                <a:solidFill>
                  <a:srgbClr val="1514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ROBUST Z</a:t>
            </a:r>
            <a:endParaRPr lang="en-US" sz="750" dirty="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9E6FD560-408E-7073-AA6E-3FB1BE59285F}"/>
              </a:ext>
            </a:extLst>
          </p:cNvPr>
          <p:cNvSpPr/>
          <p:nvPr/>
        </p:nvSpPr>
        <p:spPr>
          <a:xfrm>
            <a:off x="13120974" y="1810308"/>
            <a:ext cx="576000" cy="5760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 b="1" dirty="0"/>
              <a:t>01</a:t>
            </a:r>
          </a:p>
        </p:txBody>
      </p:sp>
      <p:sp>
        <p:nvSpPr>
          <p:cNvPr id="83" name="Text 52">
            <a:extLst>
              <a:ext uri="{FF2B5EF4-FFF2-40B4-BE49-F238E27FC236}">
                <a16:creationId xmlns:a16="http://schemas.microsoft.com/office/drawing/2014/main" id="{59A6C9C9-4E0D-9E82-22D5-B111CA07CD26}"/>
              </a:ext>
            </a:extLst>
          </p:cNvPr>
          <p:cNvSpPr/>
          <p:nvPr/>
        </p:nvSpPr>
        <p:spPr>
          <a:xfrm>
            <a:off x="13910897" y="8774788"/>
            <a:ext cx="184978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750" kern="0" spc="90" dirty="0">
                <a:solidFill>
                  <a:srgbClr val="6B675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SCALE · </a:t>
            </a:r>
            <a:r>
              <a:rPr lang="en-US" sz="750" kern="0" spc="90" dirty="0">
                <a:solidFill>
                  <a:srgbClr val="1514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 — 100 </a:t>
            </a:r>
            <a:r>
              <a:rPr lang="en-US" sz="750" kern="0" spc="90" dirty="0">
                <a:solidFill>
                  <a:srgbClr val="6B675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 · </a:t>
            </a:r>
            <a:r>
              <a:rPr lang="en-US" sz="750" kern="0" spc="90" dirty="0">
                <a:solidFill>
                  <a:srgbClr val="1514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CITE DIRECTLY</a:t>
            </a:r>
            <a:endParaRPr lang="en-US" sz="750" dirty="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DF8EA1B2-4E71-C374-F1E4-3AA483A96E32}"/>
              </a:ext>
            </a:extLst>
          </p:cNvPr>
          <p:cNvSpPr/>
          <p:nvPr/>
        </p:nvSpPr>
        <p:spPr>
          <a:xfrm>
            <a:off x="13065218" y="3572662"/>
            <a:ext cx="684000" cy="684000"/>
          </a:xfrm>
          <a:prstGeom prst="ellipse">
            <a:avLst/>
          </a:prstGeom>
          <a:solidFill>
            <a:srgbClr val="F4F1EB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1600" b="1" dirty="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E0085349-807E-0AC6-68C3-D0FD14AE7A8E}"/>
              </a:ext>
            </a:extLst>
          </p:cNvPr>
          <p:cNvSpPr/>
          <p:nvPr/>
        </p:nvSpPr>
        <p:spPr>
          <a:xfrm>
            <a:off x="13120974" y="3630057"/>
            <a:ext cx="576000" cy="5760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 b="1" dirty="0"/>
              <a:t>02</a:t>
            </a:r>
          </a:p>
        </p:txBody>
      </p:sp>
      <p:sp>
        <p:nvSpPr>
          <p:cNvPr id="90" name="Shape 27">
            <a:extLst>
              <a:ext uri="{FF2B5EF4-FFF2-40B4-BE49-F238E27FC236}">
                <a16:creationId xmlns:a16="http://schemas.microsoft.com/office/drawing/2014/main" id="{6261BA5B-59DF-9E56-33DB-3E1ABC07744F}"/>
              </a:ext>
            </a:extLst>
          </p:cNvPr>
          <p:cNvSpPr/>
          <p:nvPr/>
        </p:nvSpPr>
        <p:spPr>
          <a:xfrm>
            <a:off x="13914979" y="5065160"/>
            <a:ext cx="2509448" cy="9525"/>
          </a:xfrm>
          <a:prstGeom prst="rect">
            <a:avLst/>
          </a:prstGeom>
          <a:solidFill>
            <a:srgbClr val="C8C0AD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A20DEE9E-23A5-2E51-6F96-1034F56125FD}"/>
              </a:ext>
            </a:extLst>
          </p:cNvPr>
          <p:cNvSpPr/>
          <p:nvPr/>
        </p:nvSpPr>
        <p:spPr>
          <a:xfrm>
            <a:off x="13060150" y="5420235"/>
            <a:ext cx="684000" cy="684000"/>
          </a:xfrm>
          <a:prstGeom prst="ellipse">
            <a:avLst/>
          </a:prstGeom>
          <a:solidFill>
            <a:srgbClr val="F4F1EB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1600" b="1" dirty="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E6ACA2B1-7FCF-D00D-2EC3-4E897523E40A}"/>
              </a:ext>
            </a:extLst>
          </p:cNvPr>
          <p:cNvSpPr/>
          <p:nvPr/>
        </p:nvSpPr>
        <p:spPr>
          <a:xfrm>
            <a:off x="13115906" y="5477630"/>
            <a:ext cx="576000" cy="5760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 b="1" dirty="0"/>
              <a:t>03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6445C48E-C07D-8084-FC5C-0EB82108A51A}"/>
              </a:ext>
            </a:extLst>
          </p:cNvPr>
          <p:cNvSpPr/>
          <p:nvPr/>
        </p:nvSpPr>
        <p:spPr>
          <a:xfrm>
            <a:off x="13060150" y="7245803"/>
            <a:ext cx="684000" cy="684000"/>
          </a:xfrm>
          <a:prstGeom prst="ellipse">
            <a:avLst/>
          </a:prstGeom>
          <a:solidFill>
            <a:srgbClr val="F4F1EB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1600" b="1" dirty="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845E571B-67AF-E958-5DDD-ED97711F3030}"/>
              </a:ext>
            </a:extLst>
          </p:cNvPr>
          <p:cNvSpPr/>
          <p:nvPr/>
        </p:nvSpPr>
        <p:spPr>
          <a:xfrm>
            <a:off x="13115906" y="7303198"/>
            <a:ext cx="576000" cy="5760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 b="1" dirty="0"/>
              <a:t>04</a:t>
            </a:r>
          </a:p>
        </p:txBody>
      </p:sp>
      <p:sp>
        <p:nvSpPr>
          <p:cNvPr id="96" name="Text 25">
            <a:extLst>
              <a:ext uri="{FF2B5EF4-FFF2-40B4-BE49-F238E27FC236}">
                <a16:creationId xmlns:a16="http://schemas.microsoft.com/office/drawing/2014/main" id="{52E42E66-3AF2-59CD-8A2C-578F72E518D7}"/>
              </a:ext>
            </a:extLst>
          </p:cNvPr>
          <p:cNvSpPr/>
          <p:nvPr/>
        </p:nvSpPr>
        <p:spPr>
          <a:xfrm>
            <a:off x="11266385" y="5506706"/>
            <a:ext cx="1621848" cy="5314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3000" b="1" kern="0" spc="-31" dirty="0">
                <a:solidFill>
                  <a:srgbClr val="15140F"/>
                </a:solidFill>
                <a:latin typeface="Fraunces" pitchFamily="34" charset="0"/>
                <a:ea typeface="Fraunces" pitchFamily="34" charset="-122"/>
              </a:rPr>
              <a:t>Weight</a:t>
            </a:r>
            <a:endParaRPr lang="en-US" sz="2100" dirty="0"/>
          </a:p>
        </p:txBody>
      </p:sp>
      <p:sp>
        <p:nvSpPr>
          <p:cNvPr id="97" name="Text 26">
            <a:extLst>
              <a:ext uri="{FF2B5EF4-FFF2-40B4-BE49-F238E27FC236}">
                <a16:creationId xmlns:a16="http://schemas.microsoft.com/office/drawing/2014/main" id="{CE4477CF-F7FF-E100-42DA-B4A10B4E2E03}"/>
              </a:ext>
            </a:extLst>
          </p:cNvPr>
          <p:cNvSpPr/>
          <p:nvPr/>
        </p:nvSpPr>
        <p:spPr>
          <a:xfrm>
            <a:off x="10476234" y="6052544"/>
            <a:ext cx="2412000" cy="8352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>
              <a:lnSpc>
                <a:spcPct val="155000"/>
              </a:lnSpc>
            </a:pPr>
            <a:r>
              <a:rPr lang="en-US" sz="1013" dirty="0">
                <a:solidFill>
                  <a:srgbClr val="3A38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pillar is a transparent weighted sum of metric z‑scores. No black‑box ML, every term is auditable.</a:t>
            </a:r>
            <a:endParaRPr lang="en-US" sz="1013" dirty="0"/>
          </a:p>
        </p:txBody>
      </p:sp>
      <p:sp>
        <p:nvSpPr>
          <p:cNvPr id="98" name="Shape 27">
            <a:extLst>
              <a:ext uri="{FF2B5EF4-FFF2-40B4-BE49-F238E27FC236}">
                <a16:creationId xmlns:a16="http://schemas.microsoft.com/office/drawing/2014/main" id="{A1A64EE7-8B41-0455-BFD8-6680C530E604}"/>
              </a:ext>
            </a:extLst>
          </p:cNvPr>
          <p:cNvSpPr/>
          <p:nvPr/>
        </p:nvSpPr>
        <p:spPr>
          <a:xfrm>
            <a:off x="10476233" y="6901447"/>
            <a:ext cx="2412000" cy="9525"/>
          </a:xfrm>
          <a:prstGeom prst="rect">
            <a:avLst/>
          </a:prstGeom>
          <a:solidFill>
            <a:srgbClr val="C8C0AD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99" name="Text 28">
            <a:extLst>
              <a:ext uri="{FF2B5EF4-FFF2-40B4-BE49-F238E27FC236}">
                <a16:creationId xmlns:a16="http://schemas.microsoft.com/office/drawing/2014/main" id="{4B9EC24B-5B9D-9BA1-46E6-64D07291370D}"/>
              </a:ext>
            </a:extLst>
          </p:cNvPr>
          <p:cNvSpPr/>
          <p:nvPr/>
        </p:nvSpPr>
        <p:spPr>
          <a:xfrm>
            <a:off x="10478611" y="6960298"/>
            <a:ext cx="240962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>
              <a:lnSpc>
                <a:spcPct val="160000"/>
              </a:lnSpc>
            </a:pPr>
            <a:r>
              <a:rPr lang="en-US" sz="750" kern="0" spc="90" dirty="0">
                <a:solidFill>
                  <a:srgbClr val="6B675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FORM · </a:t>
            </a:r>
            <a:r>
              <a:rPr lang="en-US" sz="750" kern="0" spc="90" dirty="0">
                <a:solidFill>
                  <a:srgbClr val="1514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LINEAR SUM / </a:t>
            </a:r>
            <a:r>
              <a:rPr lang="en-US" sz="750" kern="0" spc="90" dirty="0">
                <a:solidFill>
                  <a:srgbClr val="6B675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AUDIT · </a:t>
            </a:r>
            <a:r>
              <a:rPr lang="en-US" sz="750" kern="0" spc="90" dirty="0">
                <a:solidFill>
                  <a:srgbClr val="1514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OPEN WEIGHTS</a:t>
            </a:r>
            <a:endParaRPr lang="en-US" sz="750" dirty="0"/>
          </a:p>
        </p:txBody>
      </p:sp>
      <p:sp>
        <p:nvSpPr>
          <p:cNvPr id="101" name="Text 33">
            <a:extLst>
              <a:ext uri="{FF2B5EF4-FFF2-40B4-BE49-F238E27FC236}">
                <a16:creationId xmlns:a16="http://schemas.microsoft.com/office/drawing/2014/main" id="{5D94DF8F-6036-C1D7-477D-4CA9C30381F9}"/>
              </a:ext>
            </a:extLst>
          </p:cNvPr>
          <p:cNvSpPr/>
          <p:nvPr/>
        </p:nvSpPr>
        <p:spPr>
          <a:xfrm>
            <a:off x="13923552" y="7319950"/>
            <a:ext cx="2073363" cy="556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kern="0" spc="-31" dirty="0">
                <a:solidFill>
                  <a:srgbClr val="15140F"/>
                </a:solidFill>
                <a:latin typeface="Fraunces" pitchFamily="34" charset="0"/>
                <a:ea typeface="Fraunces" pitchFamily="34" charset="-122"/>
              </a:rPr>
              <a:t>Percentile</a:t>
            </a:r>
            <a:endParaRPr lang="en-US" sz="3000" dirty="0"/>
          </a:p>
        </p:txBody>
      </p:sp>
      <p:sp>
        <p:nvSpPr>
          <p:cNvPr id="102" name="Text 34">
            <a:extLst>
              <a:ext uri="{FF2B5EF4-FFF2-40B4-BE49-F238E27FC236}">
                <a16:creationId xmlns:a16="http://schemas.microsoft.com/office/drawing/2014/main" id="{80B5EBBD-A926-9678-5EA7-D5429F479F76}"/>
              </a:ext>
            </a:extLst>
          </p:cNvPr>
          <p:cNvSpPr/>
          <p:nvPr/>
        </p:nvSpPr>
        <p:spPr>
          <a:xfrm>
            <a:off x="13923552" y="7939565"/>
            <a:ext cx="2457937" cy="8352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55000"/>
              </a:lnSpc>
            </a:pPr>
            <a:r>
              <a:rPr lang="en-US" sz="1013" dirty="0">
                <a:solidFill>
                  <a:srgbClr val="3A38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Output 0–100 percentiles inside the position group. Built to be quoted in a sentence by a human.</a:t>
            </a:r>
            <a:endParaRPr lang="en-US" sz="1013" dirty="0"/>
          </a:p>
        </p:txBody>
      </p:sp>
      <p:sp>
        <p:nvSpPr>
          <p:cNvPr id="104" name="Shape 27">
            <a:extLst>
              <a:ext uri="{FF2B5EF4-FFF2-40B4-BE49-F238E27FC236}">
                <a16:creationId xmlns:a16="http://schemas.microsoft.com/office/drawing/2014/main" id="{3E6F4F4F-5742-D606-FE1E-E64CCCDD4A5D}"/>
              </a:ext>
            </a:extLst>
          </p:cNvPr>
          <p:cNvSpPr/>
          <p:nvPr/>
        </p:nvSpPr>
        <p:spPr>
          <a:xfrm>
            <a:off x="13910897" y="8747645"/>
            <a:ext cx="2509448" cy="9525"/>
          </a:xfrm>
          <a:prstGeom prst="rect">
            <a:avLst/>
          </a:prstGeom>
          <a:solidFill>
            <a:srgbClr val="C8C0AD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6" name="Text 3">
            <a:extLst>
              <a:ext uri="{FF2B5EF4-FFF2-40B4-BE49-F238E27FC236}">
                <a16:creationId xmlns:a16="http://schemas.microsoft.com/office/drawing/2014/main" id="{DE32047F-7D60-1433-698D-B1CF13A5D23A}"/>
              </a:ext>
            </a:extLst>
          </p:cNvPr>
          <p:cNvSpPr/>
          <p:nvPr/>
        </p:nvSpPr>
        <p:spPr>
          <a:xfrm>
            <a:off x="838200" y="1281113"/>
            <a:ext cx="1710994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68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FOUR PILLARS</a:t>
            </a:r>
            <a:endParaRPr lang="en-US" sz="1050" dirty="0"/>
          </a:p>
        </p:txBody>
      </p:sp>
      <p:sp>
        <p:nvSpPr>
          <p:cNvPr id="107" name="Text 4">
            <a:extLst>
              <a:ext uri="{FF2B5EF4-FFF2-40B4-BE49-F238E27FC236}">
                <a16:creationId xmlns:a16="http://schemas.microsoft.com/office/drawing/2014/main" id="{19793C19-5F23-53A7-53A9-202FD798861A}"/>
              </a:ext>
            </a:extLst>
          </p:cNvPr>
          <p:cNvSpPr/>
          <p:nvPr/>
        </p:nvSpPr>
        <p:spPr>
          <a:xfrm>
            <a:off x="838200" y="1571626"/>
            <a:ext cx="6681673" cy="33106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>
              <a:lnSpc>
                <a:spcPct val="96000"/>
              </a:lnSpc>
            </a:pPr>
            <a:r>
              <a:rPr lang="en-US" sz="8800" b="1" kern="0" spc="-289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Physical Scoring Pipeline</a:t>
            </a:r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5A34C603-A64A-B5B1-0588-6FDD1806890B}"/>
              </a:ext>
            </a:extLst>
          </p:cNvPr>
          <p:cNvSpPr/>
          <p:nvPr/>
        </p:nvSpPr>
        <p:spPr>
          <a:xfrm>
            <a:off x="838200" y="4198459"/>
            <a:ext cx="18000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F0D9">
            <a:alpha val="8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B3BD8E-F46D-D247-231A-A64BD13CE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A84626A3-3876-906A-DE1B-6529B3DF59E5}"/>
              </a:ext>
            </a:extLst>
          </p:cNvPr>
          <p:cNvSpPr/>
          <p:nvPr/>
        </p:nvSpPr>
        <p:spPr>
          <a:xfrm>
            <a:off x="12694905" y="1338935"/>
            <a:ext cx="11435426" cy="92506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81350"/>
              </a:lnSpc>
              <a:buNone/>
            </a:pPr>
            <a:r>
              <a:rPr lang="en-US" sz="40000" b="1" kern="0" spc="-2000" dirty="0">
                <a:solidFill>
                  <a:srgbClr val="006B2E">
                    <a:alpha val="8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40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5E8C241-A2E1-50BF-12B2-1DDF4EBC1AC3}"/>
              </a:ext>
            </a:extLst>
          </p:cNvPr>
          <p:cNvSpPr/>
          <p:nvPr/>
        </p:nvSpPr>
        <p:spPr>
          <a:xfrm>
            <a:off x="838200" y="1847404"/>
            <a:ext cx="13538835" cy="4731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21000" b="1" kern="0" spc="-1050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Retrieval &amp; Context</a:t>
            </a:r>
            <a:r>
              <a:rPr lang="en-US" sz="21000" b="1" kern="0" spc="-1050" dirty="0">
                <a:solidFill>
                  <a:srgbClr val="FF5A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210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AAE35FA1-10EC-8D12-0B28-CE4D3B15391A}"/>
              </a:ext>
            </a:extLst>
          </p:cNvPr>
          <p:cNvSpPr/>
          <p:nvPr/>
        </p:nvSpPr>
        <p:spPr>
          <a:xfrm>
            <a:off x="838200" y="940593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3" name="Text 24">
            <a:extLst>
              <a:ext uri="{FF2B5EF4-FFF2-40B4-BE49-F238E27FC236}">
                <a16:creationId xmlns:a16="http://schemas.microsoft.com/office/drawing/2014/main" id="{35205D99-2823-0E7E-E13F-0515BBB3E69B}"/>
              </a:ext>
            </a:extLst>
          </p:cNvPr>
          <p:cNvSpPr/>
          <p:nvPr/>
        </p:nvSpPr>
        <p:spPr>
          <a:xfrm>
            <a:off x="16937682" y="9605963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15</a:t>
            </a:r>
            <a:endParaRPr lang="en-US" sz="900" dirty="0"/>
          </a:p>
        </p:txBody>
      </p:sp>
      <p:sp>
        <p:nvSpPr>
          <p:cNvPr id="24" name="Shape 0">
            <a:extLst>
              <a:ext uri="{FF2B5EF4-FFF2-40B4-BE49-F238E27FC236}">
                <a16:creationId xmlns:a16="http://schemas.microsoft.com/office/drawing/2014/main" id="{955ECEB3-0A91-10F1-2E5F-CA0D55B136F7}"/>
              </a:ext>
            </a:extLst>
          </p:cNvPr>
          <p:cNvSpPr/>
          <p:nvPr/>
        </p:nvSpPr>
        <p:spPr>
          <a:xfrm>
            <a:off x="838200" y="9286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5" name="Text 1">
            <a:extLst>
              <a:ext uri="{FF2B5EF4-FFF2-40B4-BE49-F238E27FC236}">
                <a16:creationId xmlns:a16="http://schemas.microsoft.com/office/drawing/2014/main" id="{026AC003-BF3F-4A54-03D0-7A02F80576BF}"/>
              </a:ext>
            </a:extLst>
          </p:cNvPr>
          <p:cNvSpPr/>
          <p:nvPr/>
        </p:nvSpPr>
        <p:spPr>
          <a:xfrm>
            <a:off x="838200" y="609600"/>
            <a:ext cx="2863129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02 — RETRIEVAL &amp; CONTEXT</a:t>
            </a:r>
            <a:endParaRPr lang="en-US" sz="900" dirty="0"/>
          </a:p>
        </p:txBody>
      </p:sp>
      <p:sp>
        <p:nvSpPr>
          <p:cNvPr id="3" name="Text 6">
            <a:extLst>
              <a:ext uri="{FF2B5EF4-FFF2-40B4-BE49-F238E27FC236}">
                <a16:creationId xmlns:a16="http://schemas.microsoft.com/office/drawing/2014/main" id="{DF2B5496-C9B5-85DC-44CA-353423FE113E}"/>
              </a:ext>
            </a:extLst>
          </p:cNvPr>
          <p:cNvSpPr/>
          <p:nvPr/>
        </p:nvSpPr>
        <p:spPr>
          <a:xfrm>
            <a:off x="838201" y="6069211"/>
            <a:ext cx="8862390" cy="18448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40000"/>
              </a:lnSpc>
            </a:pPr>
            <a:r>
              <a:rPr lang="en-US" sz="1950" dirty="0">
                <a:solidFill>
                  <a:srgbClr val="1D25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retrieval-augmented reasoning layer that combines player context, metric definitions, and domain knowledge to generate grounded, explainable football intelligence.</a:t>
            </a:r>
          </a:p>
          <a:p>
            <a:pPr>
              <a:lnSpc>
                <a:spcPct val="140000"/>
              </a:lnSpc>
            </a:pP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2251256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F340DD-F7DF-0651-7A83-9BC816A67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AB320EB-0EC1-D4E7-2BF2-73F90499DA2B}"/>
              </a:ext>
            </a:extLst>
          </p:cNvPr>
          <p:cNvSpPr/>
          <p:nvPr/>
        </p:nvSpPr>
        <p:spPr>
          <a:xfrm>
            <a:off x="838200" y="9286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FDC56F0-208F-189F-0C3B-48B211A2D87A}"/>
              </a:ext>
            </a:extLst>
          </p:cNvPr>
          <p:cNvSpPr/>
          <p:nvPr/>
        </p:nvSpPr>
        <p:spPr>
          <a:xfrm>
            <a:off x="838200" y="1281113"/>
            <a:ext cx="1710994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68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FOUR PILLARS</a:t>
            </a:r>
            <a:endParaRPr lang="en-US" sz="10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FBD8067-6468-0BFC-3227-DD91B2938E19}"/>
              </a:ext>
            </a:extLst>
          </p:cNvPr>
          <p:cNvSpPr/>
          <p:nvPr/>
        </p:nvSpPr>
        <p:spPr>
          <a:xfrm>
            <a:off x="838200" y="1571625"/>
            <a:ext cx="17109948" cy="8792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900" b="1" kern="0" spc="-241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</a:rPr>
              <a:t>LLM Pipeline</a:t>
            </a:r>
            <a:endParaRPr lang="en-US" sz="6900" dirty="0"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927D1447-3B2D-1BA3-C02A-111BB6D80F0C}"/>
              </a:ext>
            </a:extLst>
          </p:cNvPr>
          <p:cNvSpPr/>
          <p:nvPr/>
        </p:nvSpPr>
        <p:spPr>
          <a:xfrm>
            <a:off x="16937682" y="9605963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07/ 15</a:t>
            </a:r>
            <a:endParaRPr lang="en-US" sz="900" dirty="0"/>
          </a:p>
        </p:txBody>
      </p:sp>
      <p:sp>
        <p:nvSpPr>
          <p:cNvPr id="100" name="Shape 22">
            <a:extLst>
              <a:ext uri="{FF2B5EF4-FFF2-40B4-BE49-F238E27FC236}">
                <a16:creationId xmlns:a16="http://schemas.microsoft.com/office/drawing/2014/main" id="{8AE8E231-2A3B-B637-F942-DCE8F543F4B4}"/>
              </a:ext>
            </a:extLst>
          </p:cNvPr>
          <p:cNvSpPr/>
          <p:nvPr/>
        </p:nvSpPr>
        <p:spPr>
          <a:xfrm>
            <a:off x="838200" y="94249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3" name="Text 1">
            <a:extLst>
              <a:ext uri="{FF2B5EF4-FFF2-40B4-BE49-F238E27FC236}">
                <a16:creationId xmlns:a16="http://schemas.microsoft.com/office/drawing/2014/main" id="{D60D394A-8C57-7A83-4782-9C7DE970DDB6}"/>
              </a:ext>
            </a:extLst>
          </p:cNvPr>
          <p:cNvSpPr/>
          <p:nvPr/>
        </p:nvSpPr>
        <p:spPr>
          <a:xfrm>
            <a:off x="838200" y="609600"/>
            <a:ext cx="2863129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02 – RETRIEVAL &amp; CONTEXT</a:t>
            </a:r>
            <a:endParaRPr lang="en-US" sz="900" dirty="0"/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3A116DDC-CC2D-2E30-8723-53E97C05A80C}"/>
              </a:ext>
            </a:extLst>
          </p:cNvPr>
          <p:cNvSpPr/>
          <p:nvPr/>
        </p:nvSpPr>
        <p:spPr>
          <a:xfrm>
            <a:off x="838200" y="2694733"/>
            <a:ext cx="5296593" cy="1431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pt-PT" dirty="0" err="1"/>
              <a:t>Before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LLM </a:t>
            </a:r>
            <a:r>
              <a:rPr lang="pt-PT" dirty="0" err="1"/>
              <a:t>sees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player’s</a:t>
            </a:r>
            <a:r>
              <a:rPr lang="pt-PT" dirty="0"/>
              <a:t> data, </a:t>
            </a:r>
            <a:r>
              <a:rPr lang="pt-PT" dirty="0" err="1"/>
              <a:t>it</a:t>
            </a:r>
            <a:r>
              <a:rPr lang="pt-PT" dirty="0"/>
              <a:t> </a:t>
            </a:r>
            <a:r>
              <a:rPr lang="pt-PT" dirty="0" err="1"/>
              <a:t>reads</a:t>
            </a:r>
            <a:r>
              <a:rPr lang="pt-PT" dirty="0"/>
              <a:t> a </a:t>
            </a:r>
            <a:r>
              <a:rPr lang="pt-PT" dirty="0" err="1"/>
              <a:t>curated</a:t>
            </a:r>
            <a:r>
              <a:rPr lang="pt-PT" dirty="0"/>
              <a:t> </a:t>
            </a:r>
            <a:r>
              <a:rPr lang="pt-PT" dirty="0" err="1"/>
              <a:t>knowledge</a:t>
            </a:r>
            <a:r>
              <a:rPr lang="pt-PT" dirty="0"/>
              <a:t> base – a set </a:t>
            </a:r>
            <a:r>
              <a:rPr lang="pt-PT" dirty="0" err="1"/>
              <a:t>of</a:t>
            </a:r>
            <a:r>
              <a:rPr lang="pt-PT" dirty="0"/>
              <a:t> Q&amp;Q </a:t>
            </a:r>
            <a:r>
              <a:rPr lang="pt-PT" dirty="0" err="1"/>
              <a:t>pairs</a:t>
            </a:r>
            <a:r>
              <a:rPr lang="pt-PT" dirty="0"/>
              <a:t> </a:t>
            </a:r>
            <a:r>
              <a:rPr lang="pt-PT" dirty="0" err="1"/>
              <a:t>loaded</a:t>
            </a:r>
            <a:r>
              <a:rPr lang="pt-PT" dirty="0"/>
              <a:t> </a:t>
            </a:r>
            <a:r>
              <a:rPr lang="pt-PT" dirty="0" err="1"/>
              <a:t>directly</a:t>
            </a:r>
            <a:r>
              <a:rPr lang="pt-PT" dirty="0"/>
              <a:t> </a:t>
            </a:r>
            <a:r>
              <a:rPr lang="pt-PT" dirty="0" err="1"/>
              <a:t>into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conversation</a:t>
            </a:r>
            <a:r>
              <a:rPr lang="pt-PT" dirty="0"/>
              <a:t> </a:t>
            </a:r>
            <a:r>
              <a:rPr lang="pt-PT" dirty="0" err="1"/>
              <a:t>history</a:t>
            </a:r>
            <a:r>
              <a:rPr lang="pt-PT" dirty="0"/>
              <a:t>.</a:t>
            </a:r>
          </a:p>
          <a:p>
            <a:pPr>
              <a:lnSpc>
                <a:spcPct val="150000"/>
              </a:lnSpc>
            </a:pPr>
            <a:endParaRPr lang="en-US" sz="1650" dirty="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54D1A699-9CC7-21C2-3036-A18FB119EE93}"/>
              </a:ext>
            </a:extLst>
          </p:cNvPr>
          <p:cNvSpPr/>
          <p:nvPr/>
        </p:nvSpPr>
        <p:spPr>
          <a:xfrm>
            <a:off x="8842888" y="1588295"/>
            <a:ext cx="7604978" cy="1214591"/>
          </a:xfrm>
          <a:prstGeom prst="roundRect">
            <a:avLst>
              <a:gd name="adj" fmla="val 15353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FD5BF58E-4984-21AF-0A09-85C159948D1F}"/>
              </a:ext>
            </a:extLst>
          </p:cNvPr>
          <p:cNvSpPr txBox="1"/>
          <p:nvPr/>
        </p:nvSpPr>
        <p:spPr>
          <a:xfrm>
            <a:off x="9983724" y="1880085"/>
            <a:ext cx="2766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pt-PT" b="1" dirty="0" err="1">
                <a:solidFill>
                  <a:schemeClr val="bg2">
                    <a:lumMod val="25000"/>
                  </a:schemeClr>
                </a:solidFill>
              </a:rPr>
              <a:t>System</a:t>
            </a:r>
            <a:r>
              <a:rPr lang="pt-PT" b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b="1" dirty="0" err="1">
                <a:solidFill>
                  <a:schemeClr val="bg2">
                    <a:lumMod val="25000"/>
                  </a:schemeClr>
                </a:solidFill>
              </a:rPr>
              <a:t>Prompt</a:t>
            </a:r>
            <a:endParaRPr lang="pt-PT" b="1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Who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the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LLM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is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.</a:t>
            </a:r>
          </a:p>
        </p:txBody>
      </p:sp>
      <p:pic>
        <p:nvPicPr>
          <p:cNvPr id="43" name="Imagem 42">
            <a:extLst>
              <a:ext uri="{FF2B5EF4-FFF2-40B4-BE49-F238E27FC236}">
                <a16:creationId xmlns:a16="http://schemas.microsoft.com/office/drawing/2014/main" id="{DCA1676B-D8B2-3CEB-AC1B-C527788E36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129785" y="1919730"/>
            <a:ext cx="567043" cy="567043"/>
          </a:xfrm>
          <a:prstGeom prst="rect">
            <a:avLst/>
          </a:prstGeom>
        </p:spPr>
      </p:pic>
      <p:sp>
        <p:nvSpPr>
          <p:cNvPr id="44" name="CaixaDeTexto 43">
            <a:extLst>
              <a:ext uri="{FF2B5EF4-FFF2-40B4-BE49-F238E27FC236}">
                <a16:creationId xmlns:a16="http://schemas.microsoft.com/office/drawing/2014/main" id="{EFED7101-E762-297C-5DFF-CDFDA24AFFE3}"/>
              </a:ext>
            </a:extLst>
          </p:cNvPr>
          <p:cNvSpPr txBox="1"/>
          <p:nvPr/>
        </p:nvSpPr>
        <p:spPr>
          <a:xfrm>
            <a:off x="13279416" y="1885690"/>
            <a:ext cx="30291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“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You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are a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physical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data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analyst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...”</a:t>
            </a:r>
          </a:p>
        </p:txBody>
      </p:sp>
      <p:sp>
        <p:nvSpPr>
          <p:cNvPr id="47" name="Shape 5">
            <a:extLst>
              <a:ext uri="{FF2B5EF4-FFF2-40B4-BE49-F238E27FC236}">
                <a16:creationId xmlns:a16="http://schemas.microsoft.com/office/drawing/2014/main" id="{CB9666F1-B603-2FF9-B002-91FD95B10C6B}"/>
              </a:ext>
            </a:extLst>
          </p:cNvPr>
          <p:cNvSpPr/>
          <p:nvPr/>
        </p:nvSpPr>
        <p:spPr>
          <a:xfrm>
            <a:off x="8842888" y="3178238"/>
            <a:ext cx="7604978" cy="1214591"/>
          </a:xfrm>
          <a:prstGeom prst="roundRect">
            <a:avLst>
              <a:gd name="adj" fmla="val 15353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0E458A2F-884B-A768-6240-471F4950EAB5}"/>
              </a:ext>
            </a:extLst>
          </p:cNvPr>
          <p:cNvSpPr txBox="1"/>
          <p:nvPr/>
        </p:nvSpPr>
        <p:spPr>
          <a:xfrm>
            <a:off x="9983724" y="3470028"/>
            <a:ext cx="2766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i="1" dirty="0">
                <a:solidFill>
                  <a:schemeClr val="bg2">
                    <a:lumMod val="25000"/>
                  </a:schemeClr>
                </a:solidFill>
              </a:rPr>
              <a:t>2. Q&amp;A </a:t>
            </a:r>
            <a:r>
              <a:rPr lang="pt-PT" b="1" i="1" dirty="0" err="1">
                <a:solidFill>
                  <a:schemeClr val="bg2">
                    <a:lumMod val="25000"/>
                  </a:schemeClr>
                </a:solidFill>
              </a:rPr>
              <a:t>Pairs</a:t>
            </a:r>
            <a:endParaRPr lang="pt-PT" b="1" i="1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What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the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LLM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knows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.</a:t>
            </a:r>
          </a:p>
        </p:txBody>
      </p:sp>
      <p:pic>
        <p:nvPicPr>
          <p:cNvPr id="53" name="Imagem 52">
            <a:extLst>
              <a:ext uri="{FF2B5EF4-FFF2-40B4-BE49-F238E27FC236}">
                <a16:creationId xmlns:a16="http://schemas.microsoft.com/office/drawing/2014/main" id="{9842374F-A501-78F9-BE09-2AF334C83B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129785" y="3509673"/>
            <a:ext cx="567043" cy="567043"/>
          </a:xfrm>
          <a:prstGeom prst="rect">
            <a:avLst/>
          </a:prstGeom>
        </p:spPr>
      </p:pic>
      <p:sp>
        <p:nvSpPr>
          <p:cNvPr id="56" name="CaixaDeTexto 55">
            <a:extLst>
              <a:ext uri="{FF2B5EF4-FFF2-40B4-BE49-F238E27FC236}">
                <a16:creationId xmlns:a16="http://schemas.microsoft.com/office/drawing/2014/main" id="{8D6BE1FF-5F47-C745-6017-D0B12280D388}"/>
              </a:ext>
            </a:extLst>
          </p:cNvPr>
          <p:cNvSpPr txBox="1"/>
          <p:nvPr/>
        </p:nvSpPr>
        <p:spPr>
          <a:xfrm>
            <a:off x="13279416" y="3475633"/>
            <a:ext cx="30291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Q: ”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What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is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PSV-99?”</a:t>
            </a:r>
          </a:p>
          <a:p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Q: “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What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means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endurance?”</a:t>
            </a:r>
          </a:p>
        </p:txBody>
      </p:sp>
      <p:sp>
        <p:nvSpPr>
          <p:cNvPr id="59" name="Shape 5">
            <a:extLst>
              <a:ext uri="{FF2B5EF4-FFF2-40B4-BE49-F238E27FC236}">
                <a16:creationId xmlns:a16="http://schemas.microsoft.com/office/drawing/2014/main" id="{BDFF1A0C-9AA9-C966-B3EC-D5AC611A3C7F}"/>
              </a:ext>
            </a:extLst>
          </p:cNvPr>
          <p:cNvSpPr/>
          <p:nvPr/>
        </p:nvSpPr>
        <p:spPr>
          <a:xfrm>
            <a:off x="8842888" y="4768181"/>
            <a:ext cx="7604978" cy="1214591"/>
          </a:xfrm>
          <a:prstGeom prst="roundRect">
            <a:avLst>
              <a:gd name="adj" fmla="val 15353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60" name="CaixaDeTexto 59">
            <a:extLst>
              <a:ext uri="{FF2B5EF4-FFF2-40B4-BE49-F238E27FC236}">
                <a16:creationId xmlns:a16="http://schemas.microsoft.com/office/drawing/2014/main" id="{D3320FA1-2D99-C8F3-FEE8-61B4467C1B47}"/>
              </a:ext>
            </a:extLst>
          </p:cNvPr>
          <p:cNvSpPr txBox="1"/>
          <p:nvPr/>
        </p:nvSpPr>
        <p:spPr>
          <a:xfrm>
            <a:off x="9983724" y="5059971"/>
            <a:ext cx="2766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i="1" dirty="0">
                <a:solidFill>
                  <a:schemeClr val="bg2">
                    <a:lumMod val="25000"/>
                  </a:schemeClr>
                </a:solidFill>
              </a:rPr>
              <a:t>3. Output </a:t>
            </a:r>
            <a:r>
              <a:rPr lang="pt-PT" b="1" i="1" dirty="0" err="1">
                <a:solidFill>
                  <a:schemeClr val="bg2">
                    <a:lumMod val="25000"/>
                  </a:schemeClr>
                </a:solidFill>
              </a:rPr>
              <a:t>Format</a:t>
            </a:r>
            <a:endParaRPr lang="pt-PT" b="1" i="1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How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to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write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the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summary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.</a:t>
            </a:r>
          </a:p>
        </p:txBody>
      </p:sp>
      <p:pic>
        <p:nvPicPr>
          <p:cNvPr id="63" name="Imagem 62">
            <a:extLst>
              <a:ext uri="{FF2B5EF4-FFF2-40B4-BE49-F238E27FC236}">
                <a16:creationId xmlns:a16="http://schemas.microsoft.com/office/drawing/2014/main" id="{A2169B6E-95BE-083C-3586-2C992AD91A6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129785" y="5099616"/>
            <a:ext cx="567043" cy="567043"/>
          </a:xfrm>
          <a:prstGeom prst="rect">
            <a:avLst/>
          </a:prstGeom>
        </p:spPr>
      </p:pic>
      <p:sp>
        <p:nvSpPr>
          <p:cNvPr id="66" name="CaixaDeTexto 65">
            <a:extLst>
              <a:ext uri="{FF2B5EF4-FFF2-40B4-BE49-F238E27FC236}">
                <a16:creationId xmlns:a16="http://schemas.microsoft.com/office/drawing/2014/main" id="{32B7199E-0520-026C-0ADE-CACD43C37B5D}"/>
              </a:ext>
            </a:extLst>
          </p:cNvPr>
          <p:cNvSpPr txBox="1"/>
          <p:nvPr/>
        </p:nvSpPr>
        <p:spPr>
          <a:xfrm>
            <a:off x="13279416" y="5065576"/>
            <a:ext cx="30291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“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Write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concise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professioal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player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sumaries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that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...”</a:t>
            </a:r>
          </a:p>
        </p:txBody>
      </p:sp>
      <p:sp>
        <p:nvSpPr>
          <p:cNvPr id="69" name="Shape 5">
            <a:extLst>
              <a:ext uri="{FF2B5EF4-FFF2-40B4-BE49-F238E27FC236}">
                <a16:creationId xmlns:a16="http://schemas.microsoft.com/office/drawing/2014/main" id="{2BE478BB-5AB1-35CF-13AE-CD7FE6EB646E}"/>
              </a:ext>
            </a:extLst>
          </p:cNvPr>
          <p:cNvSpPr/>
          <p:nvPr/>
        </p:nvSpPr>
        <p:spPr>
          <a:xfrm>
            <a:off x="8842888" y="6358124"/>
            <a:ext cx="7604978" cy="1214591"/>
          </a:xfrm>
          <a:prstGeom prst="roundRect">
            <a:avLst>
              <a:gd name="adj" fmla="val 15353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72" name="CaixaDeTexto 71">
            <a:extLst>
              <a:ext uri="{FF2B5EF4-FFF2-40B4-BE49-F238E27FC236}">
                <a16:creationId xmlns:a16="http://schemas.microsoft.com/office/drawing/2014/main" id="{C9506B96-CCCA-A5C8-FFD4-B62F18C1F41C}"/>
              </a:ext>
            </a:extLst>
          </p:cNvPr>
          <p:cNvSpPr txBox="1"/>
          <p:nvPr/>
        </p:nvSpPr>
        <p:spPr>
          <a:xfrm>
            <a:off x="9983724" y="6649914"/>
            <a:ext cx="30291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i="1" dirty="0">
                <a:solidFill>
                  <a:schemeClr val="bg2">
                    <a:lumMod val="25000"/>
                  </a:schemeClr>
                </a:solidFill>
              </a:rPr>
              <a:t>4. </a:t>
            </a:r>
            <a:r>
              <a:rPr lang="pt-PT" b="1" i="1" dirty="0" err="1">
                <a:solidFill>
                  <a:schemeClr val="bg2">
                    <a:lumMod val="25000"/>
                  </a:schemeClr>
                </a:solidFill>
              </a:rPr>
              <a:t>Examples</a:t>
            </a:r>
            <a:endParaRPr lang="pt-PT" b="1" i="1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What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a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good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output looks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like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.</a:t>
            </a:r>
          </a:p>
        </p:txBody>
      </p:sp>
      <p:pic>
        <p:nvPicPr>
          <p:cNvPr id="75" name="Imagem 74">
            <a:extLst>
              <a:ext uri="{FF2B5EF4-FFF2-40B4-BE49-F238E27FC236}">
                <a16:creationId xmlns:a16="http://schemas.microsoft.com/office/drawing/2014/main" id="{69B59A53-87F1-A23C-9617-D24AF8313BF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129785" y="6689559"/>
            <a:ext cx="567043" cy="567043"/>
          </a:xfrm>
          <a:prstGeom prst="rect">
            <a:avLst/>
          </a:prstGeom>
        </p:spPr>
      </p:pic>
      <p:sp>
        <p:nvSpPr>
          <p:cNvPr id="78" name="CaixaDeTexto 77">
            <a:extLst>
              <a:ext uri="{FF2B5EF4-FFF2-40B4-BE49-F238E27FC236}">
                <a16:creationId xmlns:a16="http://schemas.microsoft.com/office/drawing/2014/main" id="{F79AAC67-4483-B2F0-DC69-79E328AE0F24}"/>
              </a:ext>
            </a:extLst>
          </p:cNvPr>
          <p:cNvSpPr txBox="1"/>
          <p:nvPr/>
        </p:nvSpPr>
        <p:spPr>
          <a:xfrm>
            <a:off x="13279416" y="6655519"/>
            <a:ext cx="30291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Salah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exemple: (...)</a:t>
            </a:r>
          </a:p>
          <a:p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Van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Dijk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exemple: (...)</a:t>
            </a:r>
          </a:p>
        </p:txBody>
      </p:sp>
      <p:sp>
        <p:nvSpPr>
          <p:cNvPr id="79" name="Shape 5">
            <a:extLst>
              <a:ext uri="{FF2B5EF4-FFF2-40B4-BE49-F238E27FC236}">
                <a16:creationId xmlns:a16="http://schemas.microsoft.com/office/drawing/2014/main" id="{D89B28C6-4FE9-4A2C-1778-5BAC7AEE0558}"/>
              </a:ext>
            </a:extLst>
          </p:cNvPr>
          <p:cNvSpPr/>
          <p:nvPr/>
        </p:nvSpPr>
        <p:spPr>
          <a:xfrm>
            <a:off x="8842888" y="7904069"/>
            <a:ext cx="7604978" cy="1214591"/>
          </a:xfrm>
          <a:prstGeom prst="roundRect">
            <a:avLst>
              <a:gd name="adj" fmla="val 15353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80" name="CaixaDeTexto 79">
            <a:extLst>
              <a:ext uri="{FF2B5EF4-FFF2-40B4-BE49-F238E27FC236}">
                <a16:creationId xmlns:a16="http://schemas.microsoft.com/office/drawing/2014/main" id="{A0DEA921-C6C9-77A1-44BB-E0DD307B6BCA}"/>
              </a:ext>
            </a:extLst>
          </p:cNvPr>
          <p:cNvSpPr txBox="1"/>
          <p:nvPr/>
        </p:nvSpPr>
        <p:spPr>
          <a:xfrm>
            <a:off x="9983724" y="8195859"/>
            <a:ext cx="30291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i="1" dirty="0">
                <a:solidFill>
                  <a:schemeClr val="bg2">
                    <a:lumMod val="25000"/>
                  </a:schemeClr>
                </a:solidFill>
              </a:rPr>
              <a:t>5. </a:t>
            </a:r>
            <a:r>
              <a:rPr lang="pt-PT" b="1" i="1" dirty="0" err="1">
                <a:solidFill>
                  <a:schemeClr val="bg2">
                    <a:lumMod val="25000"/>
                  </a:schemeClr>
                </a:solidFill>
              </a:rPr>
              <a:t>Player</a:t>
            </a:r>
            <a:r>
              <a:rPr lang="pt-PT" b="1" i="1" dirty="0">
                <a:solidFill>
                  <a:schemeClr val="bg2">
                    <a:lumMod val="25000"/>
                  </a:schemeClr>
                </a:solidFill>
              </a:rPr>
              <a:t> Data</a:t>
            </a:r>
          </a:p>
          <a:p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The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player’s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summary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data.</a:t>
            </a:r>
          </a:p>
        </p:txBody>
      </p:sp>
      <p:pic>
        <p:nvPicPr>
          <p:cNvPr id="84" name="Imagem 83">
            <a:extLst>
              <a:ext uri="{FF2B5EF4-FFF2-40B4-BE49-F238E27FC236}">
                <a16:creationId xmlns:a16="http://schemas.microsoft.com/office/drawing/2014/main" id="{F52D7620-88B8-63C8-B792-43B568A8FE4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129785" y="8235504"/>
            <a:ext cx="567043" cy="567043"/>
          </a:xfrm>
          <a:prstGeom prst="rect">
            <a:avLst/>
          </a:prstGeom>
        </p:spPr>
      </p:pic>
      <p:sp>
        <p:nvSpPr>
          <p:cNvPr id="85" name="CaixaDeTexto 84">
            <a:extLst>
              <a:ext uri="{FF2B5EF4-FFF2-40B4-BE49-F238E27FC236}">
                <a16:creationId xmlns:a16="http://schemas.microsoft.com/office/drawing/2014/main" id="{14EE3B19-6887-2829-9288-E218DEC08964}"/>
              </a:ext>
            </a:extLst>
          </p:cNvPr>
          <p:cNvSpPr txBox="1"/>
          <p:nvPr/>
        </p:nvSpPr>
        <p:spPr>
          <a:xfrm>
            <a:off x="13279416" y="8201464"/>
            <a:ext cx="30291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PSV-99: 91th (33.4km/h)</a:t>
            </a:r>
          </a:p>
          <a:p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HSR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Distance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: 75th (700m)</a:t>
            </a:r>
          </a:p>
        </p:txBody>
      </p:sp>
      <p:cxnSp>
        <p:nvCxnSpPr>
          <p:cNvPr id="101" name="Conexão Reta Unidirecional 100">
            <a:extLst>
              <a:ext uri="{FF2B5EF4-FFF2-40B4-BE49-F238E27FC236}">
                <a16:creationId xmlns:a16="http://schemas.microsoft.com/office/drawing/2014/main" id="{4962F8EE-485B-A9AC-9E84-D091097027BC}"/>
              </a:ext>
            </a:extLst>
          </p:cNvPr>
          <p:cNvCxnSpPr>
            <a:stCxn id="9" idx="2"/>
            <a:endCxn id="47" idx="0"/>
          </p:cNvCxnSpPr>
          <p:nvPr/>
        </p:nvCxnSpPr>
        <p:spPr>
          <a:xfrm>
            <a:off x="12645377" y="2802886"/>
            <a:ext cx="0" cy="375352"/>
          </a:xfrm>
          <a:prstGeom prst="straightConnector1">
            <a:avLst/>
          </a:prstGeom>
          <a:ln w="38100">
            <a:solidFill>
              <a:srgbClr val="03160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exão Reta Unidirecional 101">
            <a:extLst>
              <a:ext uri="{FF2B5EF4-FFF2-40B4-BE49-F238E27FC236}">
                <a16:creationId xmlns:a16="http://schemas.microsoft.com/office/drawing/2014/main" id="{D1173EA4-76E5-8B96-85D8-6A153FA88E5B}"/>
              </a:ext>
            </a:extLst>
          </p:cNvPr>
          <p:cNvCxnSpPr/>
          <p:nvPr/>
        </p:nvCxnSpPr>
        <p:spPr>
          <a:xfrm>
            <a:off x="12645377" y="4392829"/>
            <a:ext cx="0" cy="375352"/>
          </a:xfrm>
          <a:prstGeom prst="straightConnector1">
            <a:avLst/>
          </a:prstGeom>
          <a:ln w="38100">
            <a:solidFill>
              <a:srgbClr val="03160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exão Reta Unidirecional 103">
            <a:extLst>
              <a:ext uri="{FF2B5EF4-FFF2-40B4-BE49-F238E27FC236}">
                <a16:creationId xmlns:a16="http://schemas.microsoft.com/office/drawing/2014/main" id="{3A92D469-9F82-85C1-026C-D7D8CC3C27AB}"/>
              </a:ext>
            </a:extLst>
          </p:cNvPr>
          <p:cNvCxnSpPr/>
          <p:nvPr/>
        </p:nvCxnSpPr>
        <p:spPr>
          <a:xfrm>
            <a:off x="12645377" y="5982772"/>
            <a:ext cx="0" cy="375352"/>
          </a:xfrm>
          <a:prstGeom prst="straightConnector1">
            <a:avLst/>
          </a:prstGeom>
          <a:ln w="38100">
            <a:solidFill>
              <a:srgbClr val="03160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exão Reta Unidirecional 104">
            <a:extLst>
              <a:ext uri="{FF2B5EF4-FFF2-40B4-BE49-F238E27FC236}">
                <a16:creationId xmlns:a16="http://schemas.microsoft.com/office/drawing/2014/main" id="{76ACEBA2-5FD8-A3D0-66F2-144E1B7C136C}"/>
              </a:ext>
            </a:extLst>
          </p:cNvPr>
          <p:cNvCxnSpPr/>
          <p:nvPr/>
        </p:nvCxnSpPr>
        <p:spPr>
          <a:xfrm>
            <a:off x="12645377" y="7572715"/>
            <a:ext cx="0" cy="375352"/>
          </a:xfrm>
          <a:prstGeom prst="straightConnector1">
            <a:avLst/>
          </a:prstGeom>
          <a:ln w="38100">
            <a:solidFill>
              <a:srgbClr val="03160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6" name="Imagem 105">
            <a:extLst>
              <a:ext uri="{FF2B5EF4-FFF2-40B4-BE49-F238E27FC236}">
                <a16:creationId xmlns:a16="http://schemas.microsoft.com/office/drawing/2014/main" id="{2DA4B0D0-3F93-E012-3AF6-79F3340967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4417" y="4985593"/>
            <a:ext cx="802114" cy="802114"/>
          </a:xfrm>
          <a:prstGeom prst="rect">
            <a:avLst/>
          </a:prstGeom>
        </p:spPr>
      </p:pic>
      <p:pic>
        <p:nvPicPr>
          <p:cNvPr id="107" name="Imagem 106">
            <a:extLst>
              <a:ext uri="{FF2B5EF4-FFF2-40B4-BE49-F238E27FC236}">
                <a16:creationId xmlns:a16="http://schemas.microsoft.com/office/drawing/2014/main" id="{B17E9F43-F90C-9D8A-681D-B4C80D13630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443773" y="4995846"/>
            <a:ext cx="802114" cy="802114"/>
          </a:xfrm>
          <a:prstGeom prst="rect">
            <a:avLst/>
          </a:prstGeom>
        </p:spPr>
      </p:pic>
      <p:pic>
        <p:nvPicPr>
          <p:cNvPr id="108" name="Imagem 107">
            <a:extLst>
              <a:ext uri="{FF2B5EF4-FFF2-40B4-BE49-F238E27FC236}">
                <a16:creationId xmlns:a16="http://schemas.microsoft.com/office/drawing/2014/main" id="{E93D7B7C-8554-4A92-3471-BE322E58491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921356" y="4995846"/>
            <a:ext cx="802114" cy="802114"/>
          </a:xfrm>
          <a:prstGeom prst="rect">
            <a:avLst/>
          </a:prstGeom>
        </p:spPr>
      </p:pic>
      <p:pic>
        <p:nvPicPr>
          <p:cNvPr id="109" name="Imagem 108">
            <a:extLst>
              <a:ext uri="{FF2B5EF4-FFF2-40B4-BE49-F238E27FC236}">
                <a16:creationId xmlns:a16="http://schemas.microsoft.com/office/drawing/2014/main" id="{C8B7A17B-66CD-12BD-02CB-DCCAC9EFF81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539738" y="4982724"/>
            <a:ext cx="802114" cy="802114"/>
          </a:xfrm>
          <a:prstGeom prst="rect">
            <a:avLst/>
          </a:prstGeom>
        </p:spPr>
      </p:pic>
      <p:pic>
        <p:nvPicPr>
          <p:cNvPr id="111" name="Imagem 110">
            <a:extLst>
              <a:ext uri="{FF2B5EF4-FFF2-40B4-BE49-F238E27FC236}">
                <a16:creationId xmlns:a16="http://schemas.microsoft.com/office/drawing/2014/main" id="{33E4CB03-5F7B-5F81-D875-B83F60B9BE4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018295" y="4982079"/>
            <a:ext cx="802114" cy="802114"/>
          </a:xfrm>
          <a:prstGeom prst="rect">
            <a:avLst/>
          </a:prstGeom>
        </p:spPr>
      </p:pic>
      <p:cxnSp>
        <p:nvCxnSpPr>
          <p:cNvPr id="112" name="Conexão Reta Unidirecional 111">
            <a:extLst>
              <a:ext uri="{FF2B5EF4-FFF2-40B4-BE49-F238E27FC236}">
                <a16:creationId xmlns:a16="http://schemas.microsoft.com/office/drawing/2014/main" id="{B691A439-1B7F-BDE6-EF46-4D372421D272}"/>
              </a:ext>
            </a:extLst>
          </p:cNvPr>
          <p:cNvCxnSpPr>
            <a:cxnSpLocks/>
          </p:cNvCxnSpPr>
          <p:nvPr/>
        </p:nvCxnSpPr>
        <p:spPr>
          <a:xfrm>
            <a:off x="1774685" y="5383136"/>
            <a:ext cx="417797" cy="0"/>
          </a:xfrm>
          <a:prstGeom prst="straightConnector1">
            <a:avLst/>
          </a:prstGeom>
          <a:ln w="38100">
            <a:solidFill>
              <a:srgbClr val="03160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exão Reta Unidirecional 113">
            <a:extLst>
              <a:ext uri="{FF2B5EF4-FFF2-40B4-BE49-F238E27FC236}">
                <a16:creationId xmlns:a16="http://schemas.microsoft.com/office/drawing/2014/main" id="{69F1E44A-141F-1817-0F56-88CDDD513308}"/>
              </a:ext>
            </a:extLst>
          </p:cNvPr>
          <p:cNvCxnSpPr>
            <a:cxnSpLocks/>
          </p:cNvCxnSpPr>
          <p:nvPr/>
        </p:nvCxnSpPr>
        <p:spPr>
          <a:xfrm>
            <a:off x="3486496" y="5375476"/>
            <a:ext cx="417797" cy="0"/>
          </a:xfrm>
          <a:prstGeom prst="straightConnector1">
            <a:avLst/>
          </a:prstGeom>
          <a:ln w="38100">
            <a:solidFill>
              <a:srgbClr val="03160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exão Reta Unidirecional 114">
            <a:extLst>
              <a:ext uri="{FF2B5EF4-FFF2-40B4-BE49-F238E27FC236}">
                <a16:creationId xmlns:a16="http://schemas.microsoft.com/office/drawing/2014/main" id="{8D4F0456-7749-0529-8650-369B62F8B670}"/>
              </a:ext>
            </a:extLst>
          </p:cNvPr>
          <p:cNvCxnSpPr>
            <a:cxnSpLocks/>
          </p:cNvCxnSpPr>
          <p:nvPr/>
        </p:nvCxnSpPr>
        <p:spPr>
          <a:xfrm>
            <a:off x="4875414" y="5375476"/>
            <a:ext cx="417797" cy="0"/>
          </a:xfrm>
          <a:prstGeom prst="straightConnector1">
            <a:avLst/>
          </a:prstGeom>
          <a:ln w="38100">
            <a:solidFill>
              <a:srgbClr val="03160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exão Reta Unidirecional 115">
            <a:extLst>
              <a:ext uri="{FF2B5EF4-FFF2-40B4-BE49-F238E27FC236}">
                <a16:creationId xmlns:a16="http://schemas.microsoft.com/office/drawing/2014/main" id="{387BBF33-970E-8CE7-196B-B5D1F1732BC7}"/>
              </a:ext>
            </a:extLst>
          </p:cNvPr>
          <p:cNvCxnSpPr>
            <a:cxnSpLocks/>
          </p:cNvCxnSpPr>
          <p:nvPr/>
        </p:nvCxnSpPr>
        <p:spPr>
          <a:xfrm>
            <a:off x="6600498" y="5375476"/>
            <a:ext cx="417797" cy="0"/>
          </a:xfrm>
          <a:prstGeom prst="straightConnector1">
            <a:avLst/>
          </a:prstGeom>
          <a:ln w="38100">
            <a:solidFill>
              <a:srgbClr val="03160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CaixaDeTexto 117">
            <a:extLst>
              <a:ext uri="{FF2B5EF4-FFF2-40B4-BE49-F238E27FC236}">
                <a16:creationId xmlns:a16="http://schemas.microsoft.com/office/drawing/2014/main" id="{FF9DC162-1B81-B490-8823-7C8C4F716BB7}"/>
              </a:ext>
            </a:extLst>
          </p:cNvPr>
          <p:cNvSpPr txBox="1"/>
          <p:nvPr/>
        </p:nvSpPr>
        <p:spPr>
          <a:xfrm>
            <a:off x="2211463" y="5982772"/>
            <a:ext cx="12667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PT" b="1" i="1" dirty="0">
                <a:solidFill>
                  <a:schemeClr val="bg2">
                    <a:lumMod val="25000"/>
                  </a:schemeClr>
                </a:solidFill>
              </a:rPr>
              <a:t>Q&amp;A</a:t>
            </a:r>
          </a:p>
          <a:p>
            <a:pPr algn="ctr"/>
            <a:r>
              <a:rPr lang="pt-PT" b="1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b="1" i="1" dirty="0" err="1">
                <a:solidFill>
                  <a:schemeClr val="bg2">
                    <a:lumMod val="25000"/>
                  </a:schemeClr>
                </a:solidFill>
              </a:rPr>
              <a:t>Pairs</a:t>
            </a:r>
            <a:endParaRPr lang="pt-PT" b="1" i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19" name="CaixaDeTexto 118">
            <a:extLst>
              <a:ext uri="{FF2B5EF4-FFF2-40B4-BE49-F238E27FC236}">
                <a16:creationId xmlns:a16="http://schemas.microsoft.com/office/drawing/2014/main" id="{3F5DB756-4E73-5902-C92B-70B8D8A9556A}"/>
              </a:ext>
            </a:extLst>
          </p:cNvPr>
          <p:cNvSpPr txBox="1"/>
          <p:nvPr/>
        </p:nvSpPr>
        <p:spPr>
          <a:xfrm>
            <a:off x="592107" y="5982771"/>
            <a:ext cx="12667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PT" b="1" i="1" dirty="0" err="1">
                <a:solidFill>
                  <a:schemeClr val="bg2">
                    <a:lumMod val="25000"/>
                  </a:schemeClr>
                </a:solidFill>
              </a:rPr>
              <a:t>System</a:t>
            </a:r>
            <a:r>
              <a:rPr lang="pt-PT" b="1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b="1" i="1" dirty="0" err="1">
                <a:solidFill>
                  <a:schemeClr val="bg2">
                    <a:lumMod val="25000"/>
                  </a:schemeClr>
                </a:solidFill>
              </a:rPr>
              <a:t>Prompt</a:t>
            </a:r>
            <a:endParaRPr lang="pt-PT" b="1" i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20" name="CaixaDeTexto 119">
            <a:extLst>
              <a:ext uri="{FF2B5EF4-FFF2-40B4-BE49-F238E27FC236}">
                <a16:creationId xmlns:a16="http://schemas.microsoft.com/office/drawing/2014/main" id="{3C29BBE6-F6BF-1294-7249-4060FA868141}"/>
              </a:ext>
            </a:extLst>
          </p:cNvPr>
          <p:cNvSpPr txBox="1"/>
          <p:nvPr/>
        </p:nvSpPr>
        <p:spPr>
          <a:xfrm>
            <a:off x="3726509" y="5982770"/>
            <a:ext cx="12667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PT" b="1" i="1" dirty="0">
                <a:solidFill>
                  <a:schemeClr val="bg2">
                    <a:lumMod val="25000"/>
                  </a:schemeClr>
                </a:solidFill>
              </a:rPr>
              <a:t>Output </a:t>
            </a:r>
            <a:r>
              <a:rPr lang="pt-PT" b="1" i="1" dirty="0" err="1">
                <a:solidFill>
                  <a:schemeClr val="bg2">
                    <a:lumMod val="25000"/>
                  </a:schemeClr>
                </a:solidFill>
              </a:rPr>
              <a:t>Format</a:t>
            </a:r>
            <a:endParaRPr lang="pt-PT" b="1" i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21" name="CaixaDeTexto 120">
            <a:extLst>
              <a:ext uri="{FF2B5EF4-FFF2-40B4-BE49-F238E27FC236}">
                <a16:creationId xmlns:a16="http://schemas.microsoft.com/office/drawing/2014/main" id="{57991FEE-D93B-FE51-A16C-E3612E63D0D4}"/>
              </a:ext>
            </a:extLst>
          </p:cNvPr>
          <p:cNvSpPr txBox="1"/>
          <p:nvPr/>
        </p:nvSpPr>
        <p:spPr>
          <a:xfrm>
            <a:off x="5293211" y="6117789"/>
            <a:ext cx="12667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PT" b="1" i="1" dirty="0" err="1">
                <a:solidFill>
                  <a:schemeClr val="bg2">
                    <a:lumMod val="25000"/>
                  </a:schemeClr>
                </a:solidFill>
              </a:rPr>
              <a:t>Examples</a:t>
            </a:r>
            <a:endParaRPr lang="pt-PT" b="1" i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22" name="CaixaDeTexto 121">
            <a:extLst>
              <a:ext uri="{FF2B5EF4-FFF2-40B4-BE49-F238E27FC236}">
                <a16:creationId xmlns:a16="http://schemas.microsoft.com/office/drawing/2014/main" id="{F9BF0AE2-2687-D4F1-B05E-B875AEE3CBCC}"/>
              </a:ext>
            </a:extLst>
          </p:cNvPr>
          <p:cNvSpPr txBox="1"/>
          <p:nvPr/>
        </p:nvSpPr>
        <p:spPr>
          <a:xfrm>
            <a:off x="6781517" y="5989087"/>
            <a:ext cx="12667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PT" b="1" i="1" dirty="0" err="1">
                <a:solidFill>
                  <a:schemeClr val="bg2">
                    <a:lumMod val="25000"/>
                  </a:schemeClr>
                </a:solidFill>
              </a:rPr>
              <a:t>Player</a:t>
            </a:r>
            <a:endParaRPr lang="pt-PT" b="1" i="1" dirty="0">
              <a:solidFill>
                <a:schemeClr val="bg2">
                  <a:lumMod val="25000"/>
                </a:schemeClr>
              </a:solidFill>
            </a:endParaRPr>
          </a:p>
          <a:p>
            <a:pPr algn="ctr"/>
            <a:r>
              <a:rPr lang="pt-PT" b="1" i="1" dirty="0">
                <a:solidFill>
                  <a:schemeClr val="bg2">
                    <a:lumMod val="25000"/>
                  </a:schemeClr>
                </a:solidFill>
              </a:rPr>
              <a:t>Data</a:t>
            </a:r>
          </a:p>
        </p:txBody>
      </p:sp>
      <p:sp>
        <p:nvSpPr>
          <p:cNvPr id="123" name="Shape 0">
            <a:extLst>
              <a:ext uri="{FF2B5EF4-FFF2-40B4-BE49-F238E27FC236}">
                <a16:creationId xmlns:a16="http://schemas.microsoft.com/office/drawing/2014/main" id="{A56F3048-CC6B-1176-9EA8-C6FD93BFAB8F}"/>
              </a:ext>
            </a:extLst>
          </p:cNvPr>
          <p:cNvSpPr/>
          <p:nvPr/>
        </p:nvSpPr>
        <p:spPr>
          <a:xfrm>
            <a:off x="838200" y="2546939"/>
            <a:ext cx="18000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452419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2AC132-FFCD-F600-7D1E-456ECEAD4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B370787-89B3-EFE5-6975-1419FCE28D99}"/>
              </a:ext>
            </a:extLst>
          </p:cNvPr>
          <p:cNvSpPr/>
          <p:nvPr/>
        </p:nvSpPr>
        <p:spPr>
          <a:xfrm>
            <a:off x="838200" y="9286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9B61C771-9D60-0ADE-F9B9-398AC38A6DF8}"/>
              </a:ext>
            </a:extLst>
          </p:cNvPr>
          <p:cNvSpPr/>
          <p:nvPr/>
        </p:nvSpPr>
        <p:spPr>
          <a:xfrm>
            <a:off x="16937682" y="9605963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15</a:t>
            </a:r>
            <a:endParaRPr lang="en-US" sz="900" dirty="0"/>
          </a:p>
        </p:txBody>
      </p:sp>
      <p:sp>
        <p:nvSpPr>
          <p:cNvPr id="100" name="Shape 22">
            <a:extLst>
              <a:ext uri="{FF2B5EF4-FFF2-40B4-BE49-F238E27FC236}">
                <a16:creationId xmlns:a16="http://schemas.microsoft.com/office/drawing/2014/main" id="{098FE347-F846-578A-54F5-4C012524EB55}"/>
              </a:ext>
            </a:extLst>
          </p:cNvPr>
          <p:cNvSpPr/>
          <p:nvPr/>
        </p:nvSpPr>
        <p:spPr>
          <a:xfrm>
            <a:off x="838200" y="94249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3" name="Text 1">
            <a:extLst>
              <a:ext uri="{FF2B5EF4-FFF2-40B4-BE49-F238E27FC236}">
                <a16:creationId xmlns:a16="http://schemas.microsoft.com/office/drawing/2014/main" id="{664111F8-6806-B657-CFFE-85DF5C3A3235}"/>
              </a:ext>
            </a:extLst>
          </p:cNvPr>
          <p:cNvSpPr/>
          <p:nvPr/>
        </p:nvSpPr>
        <p:spPr>
          <a:xfrm>
            <a:off x="838200" y="609600"/>
            <a:ext cx="2863129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02 – RETRIEVAL &amp; CONTEXT</a:t>
            </a:r>
            <a:endParaRPr lang="en-US" sz="90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38498FC7-C9FE-0990-9241-E672D1872657}"/>
              </a:ext>
            </a:extLst>
          </p:cNvPr>
          <p:cNvSpPr/>
          <p:nvPr/>
        </p:nvSpPr>
        <p:spPr>
          <a:xfrm>
            <a:off x="838200" y="1281113"/>
            <a:ext cx="1710994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68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LLM Study Base</a:t>
            </a:r>
            <a:endParaRPr lang="en-US" sz="105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8F6E3899-F64A-AB14-3758-C69CDB6DBAB3}"/>
              </a:ext>
            </a:extLst>
          </p:cNvPr>
          <p:cNvSpPr/>
          <p:nvPr/>
        </p:nvSpPr>
        <p:spPr>
          <a:xfrm>
            <a:off x="838200" y="1571624"/>
            <a:ext cx="4936067" cy="48994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3900" b="1" kern="0" spc="-241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</a:rPr>
              <a:t>54</a:t>
            </a:r>
          </a:p>
          <a:p>
            <a:pPr marL="0" indent="0" algn="l">
              <a:lnSpc>
                <a:spcPct val="96000"/>
              </a:lnSpc>
              <a:buNone/>
            </a:pPr>
            <a:r>
              <a:rPr lang="en-US" sz="6900" b="1" kern="0" spc="-241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</a:rPr>
              <a:t>Q&amp;A PAIRS</a:t>
            </a:r>
            <a:endParaRPr lang="en-US" sz="6900" dirty="0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F5AB0494-5652-1067-C1B3-6479BCFA888B}"/>
              </a:ext>
            </a:extLst>
          </p:cNvPr>
          <p:cNvSpPr/>
          <p:nvPr/>
        </p:nvSpPr>
        <p:spPr>
          <a:xfrm>
            <a:off x="838200" y="6505689"/>
            <a:ext cx="5296593" cy="1431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pt-PT" dirty="0" err="1"/>
              <a:t>Before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LLM </a:t>
            </a:r>
            <a:r>
              <a:rPr lang="pt-PT" dirty="0" err="1"/>
              <a:t>sees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player’s</a:t>
            </a:r>
            <a:r>
              <a:rPr lang="pt-PT" dirty="0"/>
              <a:t> data, </a:t>
            </a:r>
            <a:r>
              <a:rPr lang="pt-PT" dirty="0" err="1"/>
              <a:t>it</a:t>
            </a:r>
            <a:r>
              <a:rPr lang="pt-PT" dirty="0"/>
              <a:t> </a:t>
            </a:r>
            <a:r>
              <a:rPr lang="pt-PT" dirty="0" err="1"/>
              <a:t>reads</a:t>
            </a:r>
            <a:r>
              <a:rPr lang="pt-PT" dirty="0"/>
              <a:t> a </a:t>
            </a:r>
            <a:r>
              <a:rPr lang="pt-PT" dirty="0" err="1"/>
              <a:t>curated</a:t>
            </a:r>
            <a:r>
              <a:rPr lang="pt-PT" dirty="0"/>
              <a:t> </a:t>
            </a:r>
            <a:r>
              <a:rPr lang="pt-PT" dirty="0" err="1"/>
              <a:t>knowledge</a:t>
            </a:r>
            <a:r>
              <a:rPr lang="pt-PT" dirty="0"/>
              <a:t> base – a set </a:t>
            </a:r>
            <a:r>
              <a:rPr lang="pt-PT" dirty="0" err="1"/>
              <a:t>of</a:t>
            </a:r>
            <a:r>
              <a:rPr lang="pt-PT" dirty="0"/>
              <a:t> Q&amp;Q </a:t>
            </a:r>
            <a:r>
              <a:rPr lang="pt-PT" dirty="0" err="1"/>
              <a:t>pairs</a:t>
            </a:r>
            <a:r>
              <a:rPr lang="pt-PT" dirty="0"/>
              <a:t> </a:t>
            </a:r>
            <a:r>
              <a:rPr lang="pt-PT" dirty="0" err="1"/>
              <a:t>loaded</a:t>
            </a:r>
            <a:r>
              <a:rPr lang="pt-PT" dirty="0"/>
              <a:t> </a:t>
            </a:r>
            <a:r>
              <a:rPr lang="pt-PT" dirty="0" err="1"/>
              <a:t>directly</a:t>
            </a:r>
            <a:r>
              <a:rPr lang="pt-PT" dirty="0"/>
              <a:t> </a:t>
            </a:r>
            <a:r>
              <a:rPr lang="pt-PT" dirty="0" err="1"/>
              <a:t>into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conversation</a:t>
            </a:r>
            <a:r>
              <a:rPr lang="pt-PT" dirty="0"/>
              <a:t> </a:t>
            </a:r>
            <a:r>
              <a:rPr lang="pt-PT" dirty="0" err="1"/>
              <a:t>history</a:t>
            </a:r>
            <a:r>
              <a:rPr lang="pt-PT" dirty="0"/>
              <a:t>.</a:t>
            </a:r>
          </a:p>
          <a:p>
            <a:pPr>
              <a:lnSpc>
                <a:spcPct val="150000"/>
              </a:lnSpc>
            </a:pPr>
            <a:endParaRPr lang="en-US" sz="1650" dirty="0"/>
          </a:p>
        </p:txBody>
      </p:sp>
      <p:sp>
        <p:nvSpPr>
          <p:cNvPr id="11" name="Shape 0">
            <a:extLst>
              <a:ext uri="{FF2B5EF4-FFF2-40B4-BE49-F238E27FC236}">
                <a16:creationId xmlns:a16="http://schemas.microsoft.com/office/drawing/2014/main" id="{27B50DB2-CA19-D0EC-681D-8AE2A0B299F0}"/>
              </a:ext>
            </a:extLst>
          </p:cNvPr>
          <p:cNvSpPr/>
          <p:nvPr/>
        </p:nvSpPr>
        <p:spPr>
          <a:xfrm>
            <a:off x="838200" y="6321921"/>
            <a:ext cx="18000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4EE2F9C3-B2C6-15A4-EB1E-92780FE894EF}"/>
              </a:ext>
            </a:extLst>
          </p:cNvPr>
          <p:cNvSpPr/>
          <p:nvPr/>
        </p:nvSpPr>
        <p:spPr>
          <a:xfrm>
            <a:off x="8902523" y="1495426"/>
            <a:ext cx="7604978" cy="1214591"/>
          </a:xfrm>
          <a:prstGeom prst="roundRect">
            <a:avLst>
              <a:gd name="adj" fmla="val 15353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DDBF26A-DC45-8763-6BBC-5F13B5E9FD7E}"/>
              </a:ext>
            </a:extLst>
          </p:cNvPr>
          <p:cNvSpPr txBox="1"/>
          <p:nvPr/>
        </p:nvSpPr>
        <p:spPr>
          <a:xfrm>
            <a:off x="10005271" y="1792821"/>
            <a:ext cx="2766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dirty="0">
                <a:solidFill>
                  <a:schemeClr val="bg2">
                    <a:lumMod val="25000"/>
                  </a:schemeClr>
                </a:solidFill>
              </a:rPr>
              <a:t>METRICS </a:t>
            </a:r>
          </a:p>
          <a:p>
            <a:r>
              <a:rPr lang="pt-PT" b="1" dirty="0">
                <a:solidFill>
                  <a:schemeClr val="bg2">
                    <a:lumMod val="25000"/>
                  </a:schemeClr>
                </a:solidFill>
              </a:rPr>
              <a:t>DEFINITIONS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EA142B10-5244-2FF6-16E8-0C83CA26E4D4}"/>
              </a:ext>
            </a:extLst>
          </p:cNvPr>
          <p:cNvSpPr txBox="1"/>
          <p:nvPr/>
        </p:nvSpPr>
        <p:spPr>
          <a:xfrm>
            <a:off x="12943493" y="1792821"/>
            <a:ext cx="34247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What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do PSV-99, COD, HSR, Sprint, etc..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actually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measure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...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273207E-E7AF-080D-21A3-5B36148915DD}"/>
              </a:ext>
            </a:extLst>
          </p:cNvPr>
          <p:cNvSpPr txBox="1"/>
          <p:nvPr/>
        </p:nvSpPr>
        <p:spPr>
          <a:xfrm>
            <a:off x="9158820" y="1718000"/>
            <a:ext cx="11254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sz="4400" b="1" dirty="0">
                <a:solidFill>
                  <a:schemeClr val="bg2">
                    <a:lumMod val="25000"/>
                  </a:schemeClr>
                </a:solidFill>
              </a:rPr>
              <a:t>16</a:t>
            </a:r>
            <a:endParaRPr lang="pt-PT" dirty="0"/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9581CE1A-637A-B30E-5943-2A10551649A4}"/>
              </a:ext>
            </a:extLst>
          </p:cNvPr>
          <p:cNvSpPr/>
          <p:nvPr/>
        </p:nvSpPr>
        <p:spPr>
          <a:xfrm>
            <a:off x="8902523" y="3017855"/>
            <a:ext cx="7604978" cy="1214591"/>
          </a:xfrm>
          <a:prstGeom prst="roundRect">
            <a:avLst>
              <a:gd name="adj" fmla="val 15353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24955F41-CDC6-9D5C-B114-0ECF99C302D3}"/>
              </a:ext>
            </a:extLst>
          </p:cNvPr>
          <p:cNvSpPr txBox="1"/>
          <p:nvPr/>
        </p:nvSpPr>
        <p:spPr>
          <a:xfrm>
            <a:off x="10005271" y="3315250"/>
            <a:ext cx="2766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dirty="0">
                <a:solidFill>
                  <a:schemeClr val="bg2">
                    <a:lumMod val="25000"/>
                  </a:schemeClr>
                </a:solidFill>
              </a:rPr>
              <a:t>ATTRIBUTE</a:t>
            </a:r>
          </a:p>
          <a:p>
            <a:r>
              <a:rPr lang="pt-PT" b="1" dirty="0">
                <a:solidFill>
                  <a:schemeClr val="bg2">
                    <a:lumMod val="25000"/>
                  </a:schemeClr>
                </a:solidFill>
              </a:rPr>
              <a:t>MEANING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0E9481A0-D0B9-1173-AA7E-5C4240056911}"/>
              </a:ext>
            </a:extLst>
          </p:cNvPr>
          <p:cNvSpPr txBox="1"/>
          <p:nvPr/>
        </p:nvSpPr>
        <p:spPr>
          <a:xfrm>
            <a:off x="12943493" y="3315250"/>
            <a:ext cx="34247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What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Speed,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Acceleration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Agility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, etc...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imply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.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71D1029D-C35B-5947-4DA7-5831F4FC29B2}"/>
              </a:ext>
            </a:extLst>
          </p:cNvPr>
          <p:cNvSpPr txBox="1"/>
          <p:nvPr/>
        </p:nvSpPr>
        <p:spPr>
          <a:xfrm>
            <a:off x="9158820" y="3240429"/>
            <a:ext cx="11254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sz="4400" b="1" dirty="0">
                <a:solidFill>
                  <a:schemeClr val="bg2">
                    <a:lumMod val="25000"/>
                  </a:schemeClr>
                </a:solidFill>
              </a:rPr>
              <a:t>8</a:t>
            </a:r>
            <a:endParaRPr lang="pt-PT" dirty="0"/>
          </a:p>
        </p:txBody>
      </p:sp>
      <p:sp>
        <p:nvSpPr>
          <p:cNvPr id="23" name="Shape 5">
            <a:extLst>
              <a:ext uri="{FF2B5EF4-FFF2-40B4-BE49-F238E27FC236}">
                <a16:creationId xmlns:a16="http://schemas.microsoft.com/office/drawing/2014/main" id="{AF67A995-AD91-4DF1-FA1B-1FDD88C8D2DB}"/>
              </a:ext>
            </a:extLst>
          </p:cNvPr>
          <p:cNvSpPr/>
          <p:nvPr/>
        </p:nvSpPr>
        <p:spPr>
          <a:xfrm>
            <a:off x="8902523" y="4542771"/>
            <a:ext cx="7604978" cy="1214591"/>
          </a:xfrm>
          <a:prstGeom prst="roundRect">
            <a:avLst>
              <a:gd name="adj" fmla="val 15353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5AA9A655-C47B-5DD3-E860-887E93B500CD}"/>
              </a:ext>
            </a:extLst>
          </p:cNvPr>
          <p:cNvSpPr txBox="1"/>
          <p:nvPr/>
        </p:nvSpPr>
        <p:spPr>
          <a:xfrm>
            <a:off x="10005271" y="4840166"/>
            <a:ext cx="2766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dirty="0">
                <a:solidFill>
                  <a:schemeClr val="bg2">
                    <a:lumMod val="25000"/>
                  </a:schemeClr>
                </a:solidFill>
              </a:rPr>
              <a:t>ATTRIBUTE</a:t>
            </a:r>
          </a:p>
          <a:p>
            <a:r>
              <a:rPr lang="pt-PT" b="1" dirty="0">
                <a:solidFill>
                  <a:schemeClr val="bg2">
                    <a:lumMod val="25000"/>
                  </a:schemeClr>
                </a:solidFill>
              </a:rPr>
              <a:t>COMBINATIONS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802EBAE6-80B1-A278-3607-72394F997E0E}"/>
              </a:ext>
            </a:extLst>
          </p:cNvPr>
          <p:cNvSpPr txBox="1"/>
          <p:nvPr/>
        </p:nvSpPr>
        <p:spPr>
          <a:xfrm>
            <a:off x="12943493" y="4840166"/>
            <a:ext cx="34247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How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pairs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of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attributes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interact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(e.g. fast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but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low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endurance)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0F8A563A-8AC1-21DF-9189-0440CA15AAD2}"/>
              </a:ext>
            </a:extLst>
          </p:cNvPr>
          <p:cNvSpPr txBox="1"/>
          <p:nvPr/>
        </p:nvSpPr>
        <p:spPr>
          <a:xfrm>
            <a:off x="9158820" y="4765345"/>
            <a:ext cx="11254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sz="4400" b="1" dirty="0">
                <a:solidFill>
                  <a:schemeClr val="bg2">
                    <a:lumMod val="25000"/>
                  </a:schemeClr>
                </a:solidFill>
              </a:rPr>
              <a:t>8</a:t>
            </a:r>
            <a:endParaRPr lang="pt-PT" dirty="0"/>
          </a:p>
        </p:txBody>
      </p:sp>
      <p:sp>
        <p:nvSpPr>
          <p:cNvPr id="35" name="Shape 5">
            <a:extLst>
              <a:ext uri="{FF2B5EF4-FFF2-40B4-BE49-F238E27FC236}">
                <a16:creationId xmlns:a16="http://schemas.microsoft.com/office/drawing/2014/main" id="{C01C7A8E-3BA3-7786-8A78-B07E1C857500}"/>
              </a:ext>
            </a:extLst>
          </p:cNvPr>
          <p:cNvSpPr/>
          <p:nvPr/>
        </p:nvSpPr>
        <p:spPr>
          <a:xfrm>
            <a:off x="8902523" y="6053445"/>
            <a:ext cx="7604978" cy="1214591"/>
          </a:xfrm>
          <a:prstGeom prst="roundRect">
            <a:avLst>
              <a:gd name="adj" fmla="val 15353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C295B174-E250-2B03-4690-84ACC4C6E030}"/>
              </a:ext>
            </a:extLst>
          </p:cNvPr>
          <p:cNvSpPr txBox="1"/>
          <p:nvPr/>
        </p:nvSpPr>
        <p:spPr>
          <a:xfrm>
            <a:off x="10005271" y="6350840"/>
            <a:ext cx="2766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dirty="0">
                <a:solidFill>
                  <a:schemeClr val="bg2">
                    <a:lumMod val="25000"/>
                  </a:schemeClr>
                </a:solidFill>
              </a:rPr>
              <a:t>POSITION</a:t>
            </a:r>
          </a:p>
          <a:p>
            <a:r>
              <a:rPr lang="pt-PT" b="1" dirty="0">
                <a:solidFill>
                  <a:schemeClr val="bg2">
                    <a:lumMod val="25000"/>
                  </a:schemeClr>
                </a:solidFill>
              </a:rPr>
              <a:t>CONTEXT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7CEEBCA9-02F1-3263-25CB-95B984EC30CC}"/>
              </a:ext>
            </a:extLst>
          </p:cNvPr>
          <p:cNvSpPr txBox="1"/>
          <p:nvPr/>
        </p:nvSpPr>
        <p:spPr>
          <a:xfrm>
            <a:off x="12943493" y="6350840"/>
            <a:ext cx="34247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What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physical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profile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suits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each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position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group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.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34030A43-0D50-F999-44FF-683D9B84918A}"/>
              </a:ext>
            </a:extLst>
          </p:cNvPr>
          <p:cNvSpPr txBox="1"/>
          <p:nvPr/>
        </p:nvSpPr>
        <p:spPr>
          <a:xfrm>
            <a:off x="9158820" y="6276019"/>
            <a:ext cx="11254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sz="4400" b="1" dirty="0">
                <a:solidFill>
                  <a:schemeClr val="bg2">
                    <a:lumMod val="25000"/>
                  </a:schemeClr>
                </a:solidFill>
              </a:rPr>
              <a:t>9</a:t>
            </a:r>
            <a:endParaRPr lang="pt-PT" dirty="0"/>
          </a:p>
        </p:txBody>
      </p:sp>
      <p:sp>
        <p:nvSpPr>
          <p:cNvPr id="39" name="Shape 5">
            <a:extLst>
              <a:ext uri="{FF2B5EF4-FFF2-40B4-BE49-F238E27FC236}">
                <a16:creationId xmlns:a16="http://schemas.microsoft.com/office/drawing/2014/main" id="{601F8BB8-A6F3-DADD-5C80-1574AC5FE139}"/>
              </a:ext>
            </a:extLst>
          </p:cNvPr>
          <p:cNvSpPr/>
          <p:nvPr/>
        </p:nvSpPr>
        <p:spPr>
          <a:xfrm>
            <a:off x="8902523" y="7573849"/>
            <a:ext cx="7604978" cy="1214591"/>
          </a:xfrm>
          <a:prstGeom prst="roundRect">
            <a:avLst>
              <a:gd name="adj" fmla="val 15353"/>
            </a:avLst>
          </a:prstGeom>
          <a:solidFill>
            <a:srgbClr val="FBF9F3"/>
          </a:solidFill>
          <a:ln w="9525">
            <a:solidFill>
              <a:srgbClr val="0E1410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9D69CC16-C16C-72A8-5EC5-3BE6D81CDA96}"/>
              </a:ext>
            </a:extLst>
          </p:cNvPr>
          <p:cNvSpPr txBox="1"/>
          <p:nvPr/>
        </p:nvSpPr>
        <p:spPr>
          <a:xfrm>
            <a:off x="10005271" y="7871244"/>
            <a:ext cx="2766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dirty="0">
                <a:solidFill>
                  <a:schemeClr val="bg2">
                    <a:lumMod val="25000"/>
                  </a:schemeClr>
                </a:solidFill>
              </a:rPr>
              <a:t>INTERPRETATION</a:t>
            </a:r>
          </a:p>
          <a:p>
            <a:r>
              <a:rPr lang="pt-PT" b="1" dirty="0">
                <a:solidFill>
                  <a:schemeClr val="bg2">
                    <a:lumMod val="25000"/>
                  </a:schemeClr>
                </a:solidFill>
              </a:rPr>
              <a:t>GUIDANCE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855F242D-40B3-D63B-9EB2-7C7714FE4720}"/>
              </a:ext>
            </a:extLst>
          </p:cNvPr>
          <p:cNvSpPr txBox="1"/>
          <p:nvPr/>
        </p:nvSpPr>
        <p:spPr>
          <a:xfrm>
            <a:off x="12943493" y="7871244"/>
            <a:ext cx="34247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How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to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read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outiers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inverted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metrics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pt-PT" i="1" dirty="0" err="1">
                <a:solidFill>
                  <a:schemeClr val="bg2">
                    <a:lumMod val="25000"/>
                  </a:schemeClr>
                </a:solidFill>
              </a:rPr>
              <a:t>thresholds</a:t>
            </a:r>
            <a:r>
              <a:rPr lang="pt-PT" i="1" dirty="0">
                <a:solidFill>
                  <a:schemeClr val="bg2">
                    <a:lumMod val="25000"/>
                  </a:schemeClr>
                </a:solidFill>
              </a:rPr>
              <a:t>, etc..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77323D39-EE1D-FA35-5339-5C7CB2B528F5}"/>
              </a:ext>
            </a:extLst>
          </p:cNvPr>
          <p:cNvSpPr txBox="1"/>
          <p:nvPr/>
        </p:nvSpPr>
        <p:spPr>
          <a:xfrm>
            <a:off x="9158820" y="7796423"/>
            <a:ext cx="11254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sz="4400" b="1" dirty="0">
                <a:solidFill>
                  <a:schemeClr val="bg2">
                    <a:lumMod val="25000"/>
                  </a:schemeClr>
                </a:solidFill>
              </a:rPr>
              <a:t>13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788053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E9EC69-DFBC-6084-C58D-E09550897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ABDB5C3-606E-6F9A-2098-EC7FCD0ACA97}"/>
              </a:ext>
            </a:extLst>
          </p:cNvPr>
          <p:cNvSpPr/>
          <p:nvPr/>
        </p:nvSpPr>
        <p:spPr>
          <a:xfrm>
            <a:off x="838200" y="9286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AFAB5E49-0DA8-C4C2-473A-A9F487AF3006}"/>
              </a:ext>
            </a:extLst>
          </p:cNvPr>
          <p:cNvSpPr/>
          <p:nvPr/>
        </p:nvSpPr>
        <p:spPr>
          <a:xfrm>
            <a:off x="16937682" y="9605963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15</a:t>
            </a:r>
            <a:endParaRPr lang="en-US" sz="900" dirty="0"/>
          </a:p>
        </p:txBody>
      </p:sp>
      <p:sp>
        <p:nvSpPr>
          <p:cNvPr id="100" name="Shape 22">
            <a:extLst>
              <a:ext uri="{FF2B5EF4-FFF2-40B4-BE49-F238E27FC236}">
                <a16:creationId xmlns:a16="http://schemas.microsoft.com/office/drawing/2014/main" id="{DB5DA187-6502-2268-01A4-44DDBA1C43A9}"/>
              </a:ext>
            </a:extLst>
          </p:cNvPr>
          <p:cNvSpPr/>
          <p:nvPr/>
        </p:nvSpPr>
        <p:spPr>
          <a:xfrm>
            <a:off x="838200" y="94249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3" name="Text 1">
            <a:extLst>
              <a:ext uri="{FF2B5EF4-FFF2-40B4-BE49-F238E27FC236}">
                <a16:creationId xmlns:a16="http://schemas.microsoft.com/office/drawing/2014/main" id="{88F1F54D-8444-FB65-EF9A-90FBB85544AB}"/>
              </a:ext>
            </a:extLst>
          </p:cNvPr>
          <p:cNvSpPr/>
          <p:nvPr/>
        </p:nvSpPr>
        <p:spPr>
          <a:xfrm>
            <a:off x="838200" y="609600"/>
            <a:ext cx="2863129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02 – RETRIEVAL &amp; CONTEXT</a:t>
            </a:r>
            <a:endParaRPr lang="en-US" sz="900" dirty="0"/>
          </a:p>
        </p:txBody>
      </p:sp>
      <p:pic>
        <p:nvPicPr>
          <p:cNvPr id="45" name="Imagem 44">
            <a:extLst>
              <a:ext uri="{FF2B5EF4-FFF2-40B4-BE49-F238E27FC236}">
                <a16:creationId xmlns:a16="http://schemas.microsoft.com/office/drawing/2014/main" id="{A03A031E-F276-AA2E-E07D-234A08C99E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906" y="1721136"/>
            <a:ext cx="5808738" cy="7006111"/>
          </a:xfrm>
          <a:prstGeom prst="rect">
            <a:avLst/>
          </a:prstGeom>
        </p:spPr>
      </p:pic>
      <p:pic>
        <p:nvPicPr>
          <p:cNvPr id="46" name="Imagem 45">
            <a:extLst>
              <a:ext uri="{FF2B5EF4-FFF2-40B4-BE49-F238E27FC236}">
                <a16:creationId xmlns:a16="http://schemas.microsoft.com/office/drawing/2014/main" id="{87FA2823-E2AE-9925-FCA9-0828DFEF2C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30590" y="2665682"/>
            <a:ext cx="5888766" cy="1414112"/>
          </a:xfrm>
          <a:prstGeom prst="rect">
            <a:avLst/>
          </a:prstGeom>
        </p:spPr>
      </p:pic>
      <p:pic>
        <p:nvPicPr>
          <p:cNvPr id="48" name="Imagem 47">
            <a:extLst>
              <a:ext uri="{FF2B5EF4-FFF2-40B4-BE49-F238E27FC236}">
                <a16:creationId xmlns:a16="http://schemas.microsoft.com/office/drawing/2014/main" id="{C24156A6-78AB-77FB-8BA7-1A38C9C70C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04243" y="5002772"/>
            <a:ext cx="5906973" cy="2868817"/>
          </a:xfrm>
          <a:prstGeom prst="rect">
            <a:avLst/>
          </a:prstGeom>
        </p:spPr>
      </p:pic>
      <p:sp>
        <p:nvSpPr>
          <p:cNvPr id="49" name="Text 3">
            <a:extLst>
              <a:ext uri="{FF2B5EF4-FFF2-40B4-BE49-F238E27FC236}">
                <a16:creationId xmlns:a16="http://schemas.microsoft.com/office/drawing/2014/main" id="{A3C3C7CA-61BA-F214-0678-ABB7226F1E66}"/>
              </a:ext>
            </a:extLst>
          </p:cNvPr>
          <p:cNvSpPr/>
          <p:nvPr/>
        </p:nvSpPr>
        <p:spPr>
          <a:xfrm>
            <a:off x="838200" y="1281113"/>
            <a:ext cx="1710994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68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</a:rPr>
              <a:t>EXAMPLE 01</a:t>
            </a:r>
            <a:endParaRPr lang="en-US" sz="1050" dirty="0"/>
          </a:p>
        </p:txBody>
      </p:sp>
      <p:sp>
        <p:nvSpPr>
          <p:cNvPr id="51" name="Text 4">
            <a:extLst>
              <a:ext uri="{FF2B5EF4-FFF2-40B4-BE49-F238E27FC236}">
                <a16:creationId xmlns:a16="http://schemas.microsoft.com/office/drawing/2014/main" id="{8B52C517-6FBE-4BC9-AA03-254C5EF5A8DE}"/>
              </a:ext>
            </a:extLst>
          </p:cNvPr>
          <p:cNvSpPr/>
          <p:nvPr/>
        </p:nvSpPr>
        <p:spPr>
          <a:xfrm>
            <a:off x="838200" y="1571625"/>
            <a:ext cx="3462867" cy="23897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900" b="1" kern="0" spc="-241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</a:rPr>
              <a:t>PLAYER</a:t>
            </a:r>
          </a:p>
          <a:p>
            <a:pPr marL="0" indent="0" algn="l">
              <a:lnSpc>
                <a:spcPct val="96000"/>
              </a:lnSpc>
              <a:buNone/>
            </a:pPr>
            <a:r>
              <a:rPr lang="en-US" sz="6900" b="1" kern="0" spc="-241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</a:rPr>
              <a:t>PROFILE</a:t>
            </a:r>
            <a:endParaRPr lang="en-US" sz="6900" dirty="0"/>
          </a:p>
        </p:txBody>
      </p:sp>
      <p:sp>
        <p:nvSpPr>
          <p:cNvPr id="55" name="Text 5">
            <a:extLst>
              <a:ext uri="{FF2B5EF4-FFF2-40B4-BE49-F238E27FC236}">
                <a16:creationId xmlns:a16="http://schemas.microsoft.com/office/drawing/2014/main" id="{147DCCFC-5305-03D7-5CA7-80C4C972B0C2}"/>
              </a:ext>
            </a:extLst>
          </p:cNvPr>
          <p:cNvSpPr/>
          <p:nvPr/>
        </p:nvSpPr>
        <p:spPr>
          <a:xfrm>
            <a:off x="838201" y="3711772"/>
            <a:ext cx="3276599" cy="23228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algn="just">
              <a:lnSpc>
                <a:spcPct val="150000"/>
              </a:lnSpc>
            </a:pP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player</a:t>
            </a:r>
            <a:r>
              <a:rPr lang="pt-PT" dirty="0"/>
              <a:t> </a:t>
            </a:r>
            <a:r>
              <a:rPr lang="pt-PT" dirty="0" err="1"/>
              <a:t>profile</a:t>
            </a:r>
            <a:r>
              <a:rPr lang="pt-PT" dirty="0"/>
              <a:t> </a:t>
            </a:r>
            <a:r>
              <a:rPr lang="pt-PT" dirty="0" err="1"/>
              <a:t>page</a:t>
            </a:r>
            <a:r>
              <a:rPr lang="pt-PT" dirty="0"/>
              <a:t> displays </a:t>
            </a:r>
            <a:r>
              <a:rPr lang="pt-PT" dirty="0" err="1"/>
              <a:t>not</a:t>
            </a:r>
            <a:r>
              <a:rPr lang="pt-PT" dirty="0"/>
              <a:t> </a:t>
            </a:r>
            <a:r>
              <a:rPr lang="pt-PT" dirty="0" err="1"/>
              <a:t>only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underlying</a:t>
            </a:r>
            <a:r>
              <a:rPr lang="pt-PT" dirty="0"/>
              <a:t> data — </a:t>
            </a:r>
            <a:r>
              <a:rPr lang="pt-PT" dirty="0" err="1"/>
              <a:t>both</a:t>
            </a:r>
            <a:r>
              <a:rPr lang="pt-PT" dirty="0"/>
              <a:t> </a:t>
            </a:r>
            <a:r>
              <a:rPr lang="pt-PT" dirty="0" err="1"/>
              <a:t>raw</a:t>
            </a:r>
            <a:r>
              <a:rPr lang="pt-PT" dirty="0"/>
              <a:t> </a:t>
            </a:r>
            <a:r>
              <a:rPr lang="pt-PT" dirty="0" err="1"/>
              <a:t>values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percentile-based</a:t>
            </a:r>
            <a:r>
              <a:rPr lang="pt-PT" dirty="0"/>
              <a:t> </a:t>
            </a:r>
            <a:r>
              <a:rPr lang="pt-PT" dirty="0" err="1"/>
              <a:t>metrics</a:t>
            </a:r>
            <a:r>
              <a:rPr lang="pt-PT" dirty="0"/>
              <a:t> — </a:t>
            </a:r>
            <a:r>
              <a:rPr lang="pt-PT" dirty="0" err="1"/>
              <a:t>but</a:t>
            </a:r>
            <a:r>
              <a:rPr lang="pt-PT" dirty="0"/>
              <a:t> </a:t>
            </a:r>
            <a:r>
              <a:rPr lang="pt-PT" dirty="0" err="1"/>
              <a:t>also</a:t>
            </a:r>
            <a:r>
              <a:rPr lang="pt-PT" dirty="0"/>
              <a:t> </a:t>
            </a:r>
            <a:r>
              <a:rPr lang="pt-PT" dirty="0" err="1"/>
              <a:t>automatically</a:t>
            </a:r>
            <a:r>
              <a:rPr lang="pt-PT" dirty="0"/>
              <a:t> </a:t>
            </a:r>
            <a:r>
              <a:rPr lang="pt-PT" dirty="0" err="1"/>
              <a:t>generated</a:t>
            </a:r>
            <a:r>
              <a:rPr lang="pt-PT" dirty="0"/>
              <a:t> </a:t>
            </a:r>
            <a:r>
              <a:rPr lang="pt-PT" dirty="0" err="1"/>
              <a:t>summaries</a:t>
            </a:r>
            <a:r>
              <a:rPr lang="pt-PT" dirty="0"/>
              <a:t>, </a:t>
            </a:r>
            <a:r>
              <a:rPr lang="pt-PT" dirty="0" err="1"/>
              <a:t>available</a:t>
            </a:r>
            <a:r>
              <a:rPr lang="pt-PT" dirty="0"/>
              <a:t> in </a:t>
            </a:r>
            <a:r>
              <a:rPr lang="pt-PT" dirty="0" err="1"/>
              <a:t>either</a:t>
            </a:r>
            <a:r>
              <a:rPr lang="pt-PT" dirty="0"/>
              <a:t> short </a:t>
            </a:r>
            <a:r>
              <a:rPr lang="pt-PT" dirty="0" err="1"/>
              <a:t>or</a:t>
            </a:r>
            <a:r>
              <a:rPr lang="pt-PT" dirty="0"/>
              <a:t> </a:t>
            </a:r>
            <a:r>
              <a:rPr lang="pt-PT" dirty="0" err="1"/>
              <a:t>detailed</a:t>
            </a:r>
            <a:r>
              <a:rPr lang="pt-PT" dirty="0"/>
              <a:t> </a:t>
            </a:r>
            <a:r>
              <a:rPr lang="pt-PT" dirty="0" err="1"/>
              <a:t>formats</a:t>
            </a:r>
            <a:r>
              <a:rPr lang="pt-PT" dirty="0"/>
              <a:t>.</a:t>
            </a:r>
          </a:p>
          <a:p>
            <a:pPr algn="just">
              <a:lnSpc>
                <a:spcPct val="150000"/>
              </a:lnSpc>
            </a:pPr>
            <a:endParaRPr lang="pt-PT" dirty="0"/>
          </a:p>
          <a:p>
            <a:pPr>
              <a:lnSpc>
                <a:spcPct val="150000"/>
              </a:lnSpc>
            </a:pPr>
            <a:endParaRPr lang="en-US" sz="1650" dirty="0"/>
          </a:p>
        </p:txBody>
      </p:sp>
      <p:sp>
        <p:nvSpPr>
          <p:cNvPr id="57" name="Shape 0">
            <a:extLst>
              <a:ext uri="{FF2B5EF4-FFF2-40B4-BE49-F238E27FC236}">
                <a16:creationId xmlns:a16="http://schemas.microsoft.com/office/drawing/2014/main" id="{E4DCF69B-C2AB-F68C-307A-9F67F722FA22}"/>
              </a:ext>
            </a:extLst>
          </p:cNvPr>
          <p:cNvSpPr/>
          <p:nvPr/>
        </p:nvSpPr>
        <p:spPr>
          <a:xfrm>
            <a:off x="838200" y="3563979"/>
            <a:ext cx="18000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8" name="Meia Moldura 57">
            <a:extLst>
              <a:ext uri="{FF2B5EF4-FFF2-40B4-BE49-F238E27FC236}">
                <a16:creationId xmlns:a16="http://schemas.microsoft.com/office/drawing/2014/main" id="{AA0A23FB-3B29-68B3-EDC9-62656422546F}"/>
              </a:ext>
            </a:extLst>
          </p:cNvPr>
          <p:cNvSpPr/>
          <p:nvPr/>
        </p:nvSpPr>
        <p:spPr>
          <a:xfrm>
            <a:off x="4983117" y="1535900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62" name="Meia Moldura 61">
            <a:extLst>
              <a:ext uri="{FF2B5EF4-FFF2-40B4-BE49-F238E27FC236}">
                <a16:creationId xmlns:a16="http://schemas.microsoft.com/office/drawing/2014/main" id="{4E2D750F-6F9B-4BB4-E9F5-E3274318AD39}"/>
              </a:ext>
            </a:extLst>
          </p:cNvPr>
          <p:cNvSpPr/>
          <p:nvPr/>
        </p:nvSpPr>
        <p:spPr>
          <a:xfrm rot="5400000">
            <a:off x="10998090" y="1533527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64" name="Meia Moldura 63">
            <a:extLst>
              <a:ext uri="{FF2B5EF4-FFF2-40B4-BE49-F238E27FC236}">
                <a16:creationId xmlns:a16="http://schemas.microsoft.com/office/drawing/2014/main" id="{4652F727-518A-E155-583E-71C6D550A9BF}"/>
              </a:ext>
            </a:extLst>
          </p:cNvPr>
          <p:cNvSpPr/>
          <p:nvPr/>
        </p:nvSpPr>
        <p:spPr>
          <a:xfrm rot="16200000">
            <a:off x="4983117" y="8770081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65" name="Meia Moldura 64">
            <a:extLst>
              <a:ext uri="{FF2B5EF4-FFF2-40B4-BE49-F238E27FC236}">
                <a16:creationId xmlns:a16="http://schemas.microsoft.com/office/drawing/2014/main" id="{EB35429C-0DCD-A872-1C5A-D29510A4CB76}"/>
              </a:ext>
            </a:extLst>
          </p:cNvPr>
          <p:cNvSpPr/>
          <p:nvPr/>
        </p:nvSpPr>
        <p:spPr>
          <a:xfrm rot="10800000">
            <a:off x="11001614" y="8773695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76" name="Meia Moldura 75">
            <a:extLst>
              <a:ext uri="{FF2B5EF4-FFF2-40B4-BE49-F238E27FC236}">
                <a16:creationId xmlns:a16="http://schemas.microsoft.com/office/drawing/2014/main" id="{B0C6950C-006D-4825-932C-80215913743D}"/>
              </a:ext>
            </a:extLst>
          </p:cNvPr>
          <p:cNvSpPr/>
          <p:nvPr/>
        </p:nvSpPr>
        <p:spPr>
          <a:xfrm>
            <a:off x="11496243" y="2534705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77" name="Meia Moldura 76">
            <a:extLst>
              <a:ext uri="{FF2B5EF4-FFF2-40B4-BE49-F238E27FC236}">
                <a16:creationId xmlns:a16="http://schemas.microsoft.com/office/drawing/2014/main" id="{F7CA161A-58F3-5FF3-47B9-69AA01EFE19B}"/>
              </a:ext>
            </a:extLst>
          </p:cNvPr>
          <p:cNvSpPr/>
          <p:nvPr/>
        </p:nvSpPr>
        <p:spPr>
          <a:xfrm rot="5400000">
            <a:off x="17511216" y="2532332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83" name="Meia Moldura 82">
            <a:extLst>
              <a:ext uri="{FF2B5EF4-FFF2-40B4-BE49-F238E27FC236}">
                <a16:creationId xmlns:a16="http://schemas.microsoft.com/office/drawing/2014/main" id="{AEB84DCD-B5B4-8389-0D89-5D10F77A8822}"/>
              </a:ext>
            </a:extLst>
          </p:cNvPr>
          <p:cNvSpPr/>
          <p:nvPr/>
        </p:nvSpPr>
        <p:spPr>
          <a:xfrm rot="16200000">
            <a:off x="11499768" y="4077712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86" name="Meia Moldura 85">
            <a:extLst>
              <a:ext uri="{FF2B5EF4-FFF2-40B4-BE49-F238E27FC236}">
                <a16:creationId xmlns:a16="http://schemas.microsoft.com/office/drawing/2014/main" id="{3E66D742-0B90-2D42-63FB-2283400F4E38}"/>
              </a:ext>
            </a:extLst>
          </p:cNvPr>
          <p:cNvSpPr/>
          <p:nvPr/>
        </p:nvSpPr>
        <p:spPr>
          <a:xfrm rot="10800000">
            <a:off x="17511216" y="4077713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88" name="Meia Moldura 87">
            <a:extLst>
              <a:ext uri="{FF2B5EF4-FFF2-40B4-BE49-F238E27FC236}">
                <a16:creationId xmlns:a16="http://schemas.microsoft.com/office/drawing/2014/main" id="{1947E345-EDE2-ED00-D5EA-A13B515E8C3D}"/>
              </a:ext>
            </a:extLst>
          </p:cNvPr>
          <p:cNvSpPr/>
          <p:nvPr/>
        </p:nvSpPr>
        <p:spPr>
          <a:xfrm>
            <a:off x="11496243" y="4812237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89" name="Meia Moldura 88">
            <a:extLst>
              <a:ext uri="{FF2B5EF4-FFF2-40B4-BE49-F238E27FC236}">
                <a16:creationId xmlns:a16="http://schemas.microsoft.com/office/drawing/2014/main" id="{A80822E0-BE64-C7E5-6DD9-00869FF491EC}"/>
              </a:ext>
            </a:extLst>
          </p:cNvPr>
          <p:cNvSpPr/>
          <p:nvPr/>
        </p:nvSpPr>
        <p:spPr>
          <a:xfrm rot="5400000">
            <a:off x="17511216" y="4809864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90" name="Meia Moldura 89">
            <a:extLst>
              <a:ext uri="{FF2B5EF4-FFF2-40B4-BE49-F238E27FC236}">
                <a16:creationId xmlns:a16="http://schemas.microsoft.com/office/drawing/2014/main" id="{6C6F6601-AB4E-3D3F-AA80-71A18C1652B6}"/>
              </a:ext>
            </a:extLst>
          </p:cNvPr>
          <p:cNvSpPr/>
          <p:nvPr/>
        </p:nvSpPr>
        <p:spPr>
          <a:xfrm rot="16200000">
            <a:off x="11499768" y="7860488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91" name="Meia Moldura 90">
            <a:extLst>
              <a:ext uri="{FF2B5EF4-FFF2-40B4-BE49-F238E27FC236}">
                <a16:creationId xmlns:a16="http://schemas.microsoft.com/office/drawing/2014/main" id="{DF13AB79-2561-EE3C-AABE-7C068D3F98D5}"/>
              </a:ext>
            </a:extLst>
          </p:cNvPr>
          <p:cNvSpPr/>
          <p:nvPr/>
        </p:nvSpPr>
        <p:spPr>
          <a:xfrm rot="10800000">
            <a:off x="17511216" y="7860489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20841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446057-9BDF-92F1-1536-B52459F3A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08ABD46-ED0C-DA09-48E6-E5A89EE7500C}"/>
              </a:ext>
            </a:extLst>
          </p:cNvPr>
          <p:cNvSpPr/>
          <p:nvPr/>
        </p:nvSpPr>
        <p:spPr>
          <a:xfrm>
            <a:off x="838200" y="9286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F0C0D6B0-B15F-C79D-545F-C8493DE0EA98}"/>
              </a:ext>
            </a:extLst>
          </p:cNvPr>
          <p:cNvSpPr/>
          <p:nvPr/>
        </p:nvSpPr>
        <p:spPr>
          <a:xfrm>
            <a:off x="16937682" y="9605963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15</a:t>
            </a:r>
            <a:endParaRPr lang="en-US" sz="900" dirty="0"/>
          </a:p>
        </p:txBody>
      </p:sp>
      <p:sp>
        <p:nvSpPr>
          <p:cNvPr id="100" name="Shape 22">
            <a:extLst>
              <a:ext uri="{FF2B5EF4-FFF2-40B4-BE49-F238E27FC236}">
                <a16:creationId xmlns:a16="http://schemas.microsoft.com/office/drawing/2014/main" id="{010522C2-58C9-83B0-FF7F-A229503BF1A8}"/>
              </a:ext>
            </a:extLst>
          </p:cNvPr>
          <p:cNvSpPr/>
          <p:nvPr/>
        </p:nvSpPr>
        <p:spPr>
          <a:xfrm>
            <a:off x="838200" y="942498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3" name="Text 1">
            <a:extLst>
              <a:ext uri="{FF2B5EF4-FFF2-40B4-BE49-F238E27FC236}">
                <a16:creationId xmlns:a16="http://schemas.microsoft.com/office/drawing/2014/main" id="{3FCE8F65-A202-4D78-F005-0506FD78393C}"/>
              </a:ext>
            </a:extLst>
          </p:cNvPr>
          <p:cNvSpPr/>
          <p:nvPr/>
        </p:nvSpPr>
        <p:spPr>
          <a:xfrm>
            <a:off x="838200" y="609600"/>
            <a:ext cx="2863129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02 – RETRIEVAL &amp; CONTEXT</a:t>
            </a:r>
            <a:endParaRPr lang="en-US" sz="900" dirty="0"/>
          </a:p>
        </p:txBody>
      </p:sp>
      <p:sp>
        <p:nvSpPr>
          <p:cNvPr id="49" name="Text 3">
            <a:extLst>
              <a:ext uri="{FF2B5EF4-FFF2-40B4-BE49-F238E27FC236}">
                <a16:creationId xmlns:a16="http://schemas.microsoft.com/office/drawing/2014/main" id="{803E59CE-FB12-CFD1-ACA4-4A8028528177}"/>
              </a:ext>
            </a:extLst>
          </p:cNvPr>
          <p:cNvSpPr/>
          <p:nvPr/>
        </p:nvSpPr>
        <p:spPr>
          <a:xfrm>
            <a:off x="838200" y="1281113"/>
            <a:ext cx="1710994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68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</a:rPr>
              <a:t>EXAMPLE 01</a:t>
            </a:r>
            <a:endParaRPr lang="en-US" sz="1050" dirty="0"/>
          </a:p>
        </p:txBody>
      </p:sp>
      <p:sp>
        <p:nvSpPr>
          <p:cNvPr id="51" name="Text 4">
            <a:extLst>
              <a:ext uri="{FF2B5EF4-FFF2-40B4-BE49-F238E27FC236}">
                <a16:creationId xmlns:a16="http://schemas.microsoft.com/office/drawing/2014/main" id="{E33B125A-FA6B-92F1-4D88-E28F930D2EA5}"/>
              </a:ext>
            </a:extLst>
          </p:cNvPr>
          <p:cNvSpPr/>
          <p:nvPr/>
        </p:nvSpPr>
        <p:spPr>
          <a:xfrm>
            <a:off x="838200" y="1571625"/>
            <a:ext cx="4127297" cy="23897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900" b="1" kern="0" spc="-241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</a:rPr>
              <a:t>AI PHYSICAL ANALIST</a:t>
            </a:r>
          </a:p>
        </p:txBody>
      </p:sp>
      <p:sp>
        <p:nvSpPr>
          <p:cNvPr id="55" name="Text 5">
            <a:extLst>
              <a:ext uri="{FF2B5EF4-FFF2-40B4-BE49-F238E27FC236}">
                <a16:creationId xmlns:a16="http://schemas.microsoft.com/office/drawing/2014/main" id="{DC8459D9-4A03-C516-0D54-09C8023E2D6E}"/>
              </a:ext>
            </a:extLst>
          </p:cNvPr>
          <p:cNvSpPr/>
          <p:nvPr/>
        </p:nvSpPr>
        <p:spPr>
          <a:xfrm>
            <a:off x="838201" y="3711773"/>
            <a:ext cx="3462866" cy="21896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algn="just">
              <a:lnSpc>
                <a:spcPct val="150000"/>
              </a:lnSpc>
            </a:pPr>
            <a:r>
              <a:rPr lang="en-US" sz="1650" dirty="0"/>
              <a:t>The analyst isn't just a report generator,  it's a chat interface. You can ask follow-up questions, compare players, or query the whole dataset. The model routes every question before answering.</a:t>
            </a:r>
          </a:p>
        </p:txBody>
      </p:sp>
      <p:sp>
        <p:nvSpPr>
          <p:cNvPr id="57" name="Shape 0">
            <a:extLst>
              <a:ext uri="{FF2B5EF4-FFF2-40B4-BE49-F238E27FC236}">
                <a16:creationId xmlns:a16="http://schemas.microsoft.com/office/drawing/2014/main" id="{DE4BC527-04BE-B691-FA30-D366098602AD}"/>
              </a:ext>
            </a:extLst>
          </p:cNvPr>
          <p:cNvSpPr/>
          <p:nvPr/>
        </p:nvSpPr>
        <p:spPr>
          <a:xfrm>
            <a:off x="838200" y="3563979"/>
            <a:ext cx="18000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" name="Meia Moldura 5">
            <a:extLst>
              <a:ext uri="{FF2B5EF4-FFF2-40B4-BE49-F238E27FC236}">
                <a16:creationId xmlns:a16="http://schemas.microsoft.com/office/drawing/2014/main" id="{953C1988-5E0E-68CB-3EC1-7397189D421F}"/>
              </a:ext>
            </a:extLst>
          </p:cNvPr>
          <p:cNvSpPr/>
          <p:nvPr/>
        </p:nvSpPr>
        <p:spPr>
          <a:xfrm>
            <a:off x="4983117" y="1535900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7" name="Meia Moldura 6">
            <a:extLst>
              <a:ext uri="{FF2B5EF4-FFF2-40B4-BE49-F238E27FC236}">
                <a16:creationId xmlns:a16="http://schemas.microsoft.com/office/drawing/2014/main" id="{D12BD135-11D6-08FC-4D51-603419CD92B6}"/>
              </a:ext>
            </a:extLst>
          </p:cNvPr>
          <p:cNvSpPr/>
          <p:nvPr/>
        </p:nvSpPr>
        <p:spPr>
          <a:xfrm rot="5400000">
            <a:off x="10998090" y="1533527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8" name="Meia Moldura 7">
            <a:extLst>
              <a:ext uri="{FF2B5EF4-FFF2-40B4-BE49-F238E27FC236}">
                <a16:creationId xmlns:a16="http://schemas.microsoft.com/office/drawing/2014/main" id="{5C2026E3-8B50-DD07-9FD6-8CE0B90D420D}"/>
              </a:ext>
            </a:extLst>
          </p:cNvPr>
          <p:cNvSpPr/>
          <p:nvPr/>
        </p:nvSpPr>
        <p:spPr>
          <a:xfrm rot="16200000">
            <a:off x="4983117" y="4879402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9" name="Meia Moldura 8">
            <a:extLst>
              <a:ext uri="{FF2B5EF4-FFF2-40B4-BE49-F238E27FC236}">
                <a16:creationId xmlns:a16="http://schemas.microsoft.com/office/drawing/2014/main" id="{1CB50C8E-6CD3-E03D-31C9-C7E6F5292D3B}"/>
              </a:ext>
            </a:extLst>
          </p:cNvPr>
          <p:cNvSpPr/>
          <p:nvPr/>
        </p:nvSpPr>
        <p:spPr>
          <a:xfrm rot="10800000">
            <a:off x="11001614" y="4883016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F0C06A81-E24A-DD83-94D3-AF10DF3F3C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116" y="1861191"/>
            <a:ext cx="6014974" cy="2850847"/>
          </a:xfrm>
          <a:prstGeom prst="rect">
            <a:avLst/>
          </a:prstGeom>
        </p:spPr>
      </p:pic>
      <p:sp>
        <p:nvSpPr>
          <p:cNvPr id="19" name="Meia Moldura 18">
            <a:extLst>
              <a:ext uri="{FF2B5EF4-FFF2-40B4-BE49-F238E27FC236}">
                <a16:creationId xmlns:a16="http://schemas.microsoft.com/office/drawing/2014/main" id="{B11EFB46-172D-5843-C921-529641CA7BBF}"/>
              </a:ext>
            </a:extLst>
          </p:cNvPr>
          <p:cNvSpPr/>
          <p:nvPr/>
        </p:nvSpPr>
        <p:spPr>
          <a:xfrm>
            <a:off x="4979593" y="5577336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20" name="Meia Moldura 19">
            <a:extLst>
              <a:ext uri="{FF2B5EF4-FFF2-40B4-BE49-F238E27FC236}">
                <a16:creationId xmlns:a16="http://schemas.microsoft.com/office/drawing/2014/main" id="{84319672-D50D-47EC-A2C1-4DA05B19AB96}"/>
              </a:ext>
            </a:extLst>
          </p:cNvPr>
          <p:cNvSpPr/>
          <p:nvPr/>
        </p:nvSpPr>
        <p:spPr>
          <a:xfrm rot="5400000">
            <a:off x="10994566" y="5574963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21" name="Meia Moldura 20">
            <a:extLst>
              <a:ext uri="{FF2B5EF4-FFF2-40B4-BE49-F238E27FC236}">
                <a16:creationId xmlns:a16="http://schemas.microsoft.com/office/drawing/2014/main" id="{45849C0C-46B1-F06B-2419-CB86A1805601}"/>
              </a:ext>
            </a:extLst>
          </p:cNvPr>
          <p:cNvSpPr/>
          <p:nvPr/>
        </p:nvSpPr>
        <p:spPr>
          <a:xfrm rot="16200000">
            <a:off x="4979593" y="8472605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22" name="Meia Moldura 21">
            <a:extLst>
              <a:ext uri="{FF2B5EF4-FFF2-40B4-BE49-F238E27FC236}">
                <a16:creationId xmlns:a16="http://schemas.microsoft.com/office/drawing/2014/main" id="{4EF218A1-5576-3008-0E98-386419A5D344}"/>
              </a:ext>
            </a:extLst>
          </p:cNvPr>
          <p:cNvSpPr/>
          <p:nvPr/>
        </p:nvSpPr>
        <p:spPr>
          <a:xfrm rot="10800000">
            <a:off x="10998090" y="8476219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pic>
        <p:nvPicPr>
          <p:cNvPr id="23" name="Imagem 22">
            <a:extLst>
              <a:ext uri="{FF2B5EF4-FFF2-40B4-BE49-F238E27FC236}">
                <a16:creationId xmlns:a16="http://schemas.microsoft.com/office/drawing/2014/main" id="{038BB5A6-F1F4-5AE9-42AB-23171CAA525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979592" y="5813628"/>
            <a:ext cx="6014974" cy="2509769"/>
          </a:xfrm>
          <a:prstGeom prst="rect">
            <a:avLst/>
          </a:prstGeom>
        </p:spPr>
      </p:pic>
      <p:sp>
        <p:nvSpPr>
          <p:cNvPr id="25" name="Meia Moldura 24">
            <a:extLst>
              <a:ext uri="{FF2B5EF4-FFF2-40B4-BE49-F238E27FC236}">
                <a16:creationId xmlns:a16="http://schemas.microsoft.com/office/drawing/2014/main" id="{D773F4F7-3EA8-C9C9-E936-E68A691F5EB0}"/>
              </a:ext>
            </a:extLst>
          </p:cNvPr>
          <p:cNvSpPr/>
          <p:nvPr/>
        </p:nvSpPr>
        <p:spPr>
          <a:xfrm>
            <a:off x="11669568" y="2907497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26" name="Meia Moldura 25">
            <a:extLst>
              <a:ext uri="{FF2B5EF4-FFF2-40B4-BE49-F238E27FC236}">
                <a16:creationId xmlns:a16="http://schemas.microsoft.com/office/drawing/2014/main" id="{9B8AAAFA-F6C5-E94B-37C1-3D981F985861}"/>
              </a:ext>
            </a:extLst>
          </p:cNvPr>
          <p:cNvSpPr/>
          <p:nvPr/>
        </p:nvSpPr>
        <p:spPr>
          <a:xfrm rot="5400000">
            <a:off x="17684541" y="2905124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27" name="Meia Moldura 26">
            <a:extLst>
              <a:ext uri="{FF2B5EF4-FFF2-40B4-BE49-F238E27FC236}">
                <a16:creationId xmlns:a16="http://schemas.microsoft.com/office/drawing/2014/main" id="{AB5F1260-5C99-28B1-4F47-0366CFA7594D}"/>
              </a:ext>
            </a:extLst>
          </p:cNvPr>
          <p:cNvSpPr/>
          <p:nvPr/>
        </p:nvSpPr>
        <p:spPr>
          <a:xfrm rot="16200000">
            <a:off x="11669568" y="6986104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28" name="Meia Moldura 27">
            <a:extLst>
              <a:ext uri="{FF2B5EF4-FFF2-40B4-BE49-F238E27FC236}">
                <a16:creationId xmlns:a16="http://schemas.microsoft.com/office/drawing/2014/main" id="{50B3AA57-2B75-04F3-81AA-EA2E522FEB02}"/>
              </a:ext>
            </a:extLst>
          </p:cNvPr>
          <p:cNvSpPr/>
          <p:nvPr/>
        </p:nvSpPr>
        <p:spPr>
          <a:xfrm rot="10800000">
            <a:off x="17688065" y="6989718"/>
            <a:ext cx="108000" cy="108000"/>
          </a:xfrm>
          <a:prstGeom prst="halfFrame">
            <a:avLst/>
          </a:prstGeom>
          <a:solidFill>
            <a:srgbClr val="0D14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pic>
        <p:nvPicPr>
          <p:cNvPr id="29" name="Imagem 28">
            <a:extLst>
              <a:ext uri="{FF2B5EF4-FFF2-40B4-BE49-F238E27FC236}">
                <a16:creationId xmlns:a16="http://schemas.microsoft.com/office/drawing/2014/main" id="{025CBE60-ED0A-B73B-321D-5B5E54AFF74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1774044" y="3126781"/>
            <a:ext cx="5802497" cy="3813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536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2F0D9">
            <a:alpha val="8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200" y="871538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838200" y="571500"/>
            <a:ext cx="807765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87941" y="571500"/>
            <a:ext cx="807765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STORYBOARD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937682" y="571500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8200" y="1109663"/>
            <a:ext cx="13538835" cy="70789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21000" b="1" kern="0" spc="-1050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Future Vision</a:t>
            </a:r>
          </a:p>
          <a:p>
            <a:pPr marL="0" indent="0" algn="l">
              <a:lnSpc>
                <a:spcPct val="88000"/>
              </a:lnSpc>
              <a:buNone/>
            </a:pPr>
            <a:r>
              <a:rPr lang="en-US" sz="21000" b="1" kern="0" spc="-1050" dirty="0">
                <a:solidFill>
                  <a:srgbClr val="0E141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Storyboard</a:t>
            </a:r>
            <a:r>
              <a:rPr lang="en-US" sz="21000" b="1" kern="0" spc="-1050" dirty="0">
                <a:solidFill>
                  <a:srgbClr val="FF5A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21000" dirty="0"/>
          </a:p>
        </p:txBody>
      </p:sp>
      <p:sp>
        <p:nvSpPr>
          <p:cNvPr id="15" name="Shape 13"/>
          <p:cNvSpPr/>
          <p:nvPr/>
        </p:nvSpPr>
        <p:spPr>
          <a:xfrm>
            <a:off x="838200" y="9930705"/>
            <a:ext cx="16611600" cy="9525"/>
          </a:xfrm>
          <a:prstGeom prst="rect">
            <a:avLst/>
          </a:prstGeom>
          <a:solidFill>
            <a:srgbClr val="0E1410">
              <a:alpha val="12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6" name="Text 14"/>
          <p:cNvSpPr/>
          <p:nvPr/>
        </p:nvSpPr>
        <p:spPr>
          <a:xfrm>
            <a:off x="838200" y="10092630"/>
            <a:ext cx="219759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SIX FUNCTIONS · ONE ASSISTANT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5327883" y="10092630"/>
            <a:ext cx="2198117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BRIEF → TARGET → ALTERNATIVES</a:t>
            </a:r>
            <a:endParaRPr lang="en-US" sz="900" dirty="0"/>
          </a:p>
        </p:txBody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909B17A2-8857-13A7-15BF-CFCF8F3A119C}"/>
              </a:ext>
            </a:extLst>
          </p:cNvPr>
          <p:cNvSpPr/>
          <p:nvPr/>
        </p:nvSpPr>
        <p:spPr>
          <a:xfrm>
            <a:off x="12694905" y="1338935"/>
            <a:ext cx="11435426" cy="92506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81350"/>
              </a:lnSpc>
              <a:buNone/>
            </a:pPr>
            <a:r>
              <a:rPr lang="en-US" sz="40000" b="1" kern="0" spc="-2000" dirty="0">
                <a:solidFill>
                  <a:srgbClr val="006B2E">
                    <a:alpha val="8000"/>
                  </a:srgbClr>
                </a:solidFill>
                <a:latin typeface="Space Grotesk" pitchFamily="34" charset="0"/>
                <a:ea typeface="Space Grotesk" pitchFamily="34" charset="-122"/>
              </a:rPr>
              <a:t>03</a:t>
            </a:r>
            <a:endParaRPr lang="en-US" sz="40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4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200" y="738188"/>
            <a:ext cx="16611600" cy="9525"/>
          </a:xfrm>
          <a:prstGeom prst="rect">
            <a:avLst/>
          </a:prstGeom>
          <a:solidFill>
            <a:srgbClr val="F4F1EA">
              <a:alpha val="18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838200" y="457200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F4F1EA">
                    <a:alpha val="4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6937682" y="457200"/>
            <a:ext cx="588318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F4F1EA">
                    <a:alpha val="4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CLOSING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8200" y="1596479"/>
            <a:ext cx="14716125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FD29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SKILLCORNER MEASURES. TWELVE REASONS.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38200" y="1915567"/>
            <a:ext cx="14716125" cy="56462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2000" b="1" kern="0" spc="-540" dirty="0">
                <a:solidFill>
                  <a:srgbClr val="F4F1E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model is the foundation. </a:t>
            </a:r>
            <a:r>
              <a:rPr lang="en-US" sz="12000" b="1" kern="0" spc="-540" dirty="0">
                <a:solidFill>
                  <a:srgbClr val="6FD29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</a:t>
            </a:r>
            <a:r>
              <a:rPr lang="en-US" sz="12000" b="1" kern="0" spc="-540" dirty="0">
                <a:solidFill>
                  <a:srgbClr val="F4F1E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is the product</a:t>
            </a:r>
            <a:r>
              <a:rPr lang="en-US" sz="12000" b="1" kern="0" spc="-540" dirty="0">
                <a:solidFill>
                  <a:srgbClr val="FF5A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12000" dirty="0"/>
          </a:p>
        </p:txBody>
      </p:sp>
      <p:sp>
        <p:nvSpPr>
          <p:cNvPr id="7" name="Shape 5"/>
          <p:cNvSpPr/>
          <p:nvPr/>
        </p:nvSpPr>
        <p:spPr>
          <a:xfrm>
            <a:off x="838200" y="8258175"/>
            <a:ext cx="16611600" cy="9525"/>
          </a:xfrm>
          <a:prstGeom prst="rect">
            <a:avLst/>
          </a:prstGeom>
          <a:solidFill>
            <a:srgbClr val="F4F1EA">
              <a:alpha val="18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838200" y="8529638"/>
            <a:ext cx="807765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FOUNDATION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8200" y="8763000"/>
            <a:ext cx="549402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F4F1E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SkillCorner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838200" y="9153525"/>
            <a:ext cx="549402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F4F1EA">
                    <a:alpha val="65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Tracking · physical metrics · per-match telemetry. The signals.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6477000" y="8529638"/>
            <a:ext cx="442020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LAYER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77000" y="8763000"/>
            <a:ext cx="549402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F4F1E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Twelve · Context Engineering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6477000" y="9153525"/>
            <a:ext cx="549402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F4F1EA">
                    <a:alpha val="65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Pillars · retrieval · wordalisation · refusal. The product.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12115800" y="8529638"/>
            <a:ext cx="368871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6C72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NEXT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2115800" y="8763000"/>
            <a:ext cx="549402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6FD29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Build the six functions.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115800" y="9153525"/>
            <a:ext cx="549402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F4F1EA">
                    <a:alpha val="65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wordalisations, three ask-templates, one knowledge base.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838200" y="9558338"/>
            <a:ext cx="16611600" cy="9525"/>
          </a:xfrm>
          <a:prstGeom prst="rect">
            <a:avLst/>
          </a:prstGeom>
          <a:solidFill>
            <a:srgbClr val="F4F1EA">
              <a:alpha val="18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838200" y="9720263"/>
            <a:ext cx="2637099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F4F1EA">
                    <a:alpha val="4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TWELVE · CONTEXT ENGINEERING · 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6059894" y="9720263"/>
            <a:ext cx="146610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kern="0" spc="36" dirty="0">
                <a:solidFill>
                  <a:srgbClr val="F4F1EA">
                    <a:alpha val="4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SESSION CTXENG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1140</Words>
  <Application>Microsoft Macintosh PowerPoint</Application>
  <PresentationFormat>Personalizados</PresentationFormat>
  <Paragraphs>219</Paragraphs>
  <Slides>12</Slides>
  <Notes>12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12</vt:i4>
      </vt:variant>
    </vt:vector>
  </HeadingPairs>
  <TitlesOfParts>
    <vt:vector size="19" baseType="lpstr">
      <vt:lpstr>Arial</vt:lpstr>
      <vt:lpstr>Fraunces</vt:lpstr>
      <vt:lpstr>Inter</vt:lpstr>
      <vt:lpstr>JetBrains Mono</vt:lpstr>
      <vt:lpstr>Space Grotesk</vt:lpstr>
      <vt:lpstr>Times New Roman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Pedro Miguel Cardoso Carvalho</cp:lastModifiedBy>
  <cp:revision>5</cp:revision>
  <dcterms:created xsi:type="dcterms:W3CDTF">2026-05-10T13:18:03Z</dcterms:created>
  <dcterms:modified xsi:type="dcterms:W3CDTF">2026-05-11T15:21:11Z</dcterms:modified>
</cp:coreProperties>
</file>