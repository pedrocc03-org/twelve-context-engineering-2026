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76" r:id="rId7"/>
    <p:sldId id="266" r:id="rId8"/>
    <p:sldId id="270" r:id="rId9"/>
    <p:sldId id="272" r:id="rId10"/>
    <p:sldId id="273" r:id="rId11"/>
    <p:sldId id="274" r:id="rId12"/>
    <p:sldId id="275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0D9"/>
    <a:srgbClr val="016A2E"/>
    <a:srgbClr val="F4F1EB"/>
    <a:srgbClr val="0D140F"/>
    <a:srgbClr val="DBDAD4"/>
    <a:srgbClr val="DFDDD8"/>
    <a:srgbClr val="FCF9F4"/>
    <a:srgbClr val="016B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62" d="100"/>
          <a:sy n="62" d="100"/>
        </p:scale>
        <p:origin x="13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316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F6490-85CB-B35B-BD09-CBC07399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18F9B-A3F4-0975-AAD4-4DFA05DED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EC145-CC9B-D895-7868-6FDA6FE78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8F347-F486-9CC1-CB56-50F339372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21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6A2E">
            <a:alpha val="5306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0088"/>
            <a:ext cx="182880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609600" y="266699"/>
            <a:ext cx="241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ENGINGEERING ·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705106" y="266700"/>
            <a:ext cx="124665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/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605498" y="266700"/>
            <a:ext cx="114910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APR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104900"/>
            <a:ext cx="81625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0E141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SKILLCORNER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9600" y="1381125"/>
            <a:ext cx="816254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TRACKING · TELEMETRY · METRICS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63125" y="1104900"/>
            <a:ext cx="81527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TWELVE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763125" y="1381125"/>
            <a:ext cx="815273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RETRIEVAL · NARRATIVE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600" y="2311083"/>
            <a:ext cx="12231859" cy="3552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15000" b="1" kern="0" spc="-675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metrics </a:t>
            </a:r>
            <a:r>
              <a:rPr lang="en-US" sz="15000" i="1" kern="0" spc="-675" dirty="0">
                <a:solidFill>
                  <a:srgbClr val="6C72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</a:t>
            </a:r>
            <a:r>
              <a:rPr lang="en-US" sz="15000" b="1" kern="0" spc="-675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intelligence</a:t>
            </a:r>
            <a:r>
              <a:rPr lang="en-US" sz="15000" b="1" kern="0" spc="-675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5000" dirty="0"/>
          </a:p>
        </p:txBody>
      </p:sp>
      <p:sp>
        <p:nvSpPr>
          <p:cNvPr id="16" name="Text 14"/>
          <p:cNvSpPr/>
          <p:nvPr/>
        </p:nvSpPr>
        <p:spPr>
          <a:xfrm>
            <a:off x="609600" y="5218143"/>
            <a:ext cx="863346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context turns physical signals into football product value — a Twelve × SkillCorner storyboard for the Physical Analyst.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0" y="709613"/>
            <a:ext cx="182880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609600" y="947737"/>
            <a:ext cx="2124447" cy="9110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TWELVE · CONTEXT ENGINEERING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63124" y="909639"/>
            <a:ext cx="3707131" cy="32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PHYSICAL ANALYST · STORYBOARD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92868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838200" y="609600"/>
            <a:ext cx="5883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864533" y="609600"/>
            <a:ext cx="66146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0E141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8200" y="1281113"/>
            <a:ext cx="1710994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MAP OF THE TALK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1571625"/>
            <a:ext cx="17109948" cy="172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900" b="1" kern="0" spc="-241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sections, one product story.</a:t>
            </a:r>
            <a:endParaRPr lang="en-US" sz="6900" dirty="0"/>
          </a:p>
        </p:txBody>
      </p:sp>
      <p:sp>
        <p:nvSpPr>
          <p:cNvPr id="7" name="Shape 5"/>
          <p:cNvSpPr/>
          <p:nvPr/>
        </p:nvSpPr>
        <p:spPr>
          <a:xfrm>
            <a:off x="838200" y="3939778"/>
            <a:ext cx="5359375" cy="4381500"/>
          </a:xfrm>
          <a:prstGeom prst="roundRect">
            <a:avLst>
              <a:gd name="adj" fmla="val 6754"/>
            </a:avLst>
          </a:prstGeom>
          <a:solidFill>
            <a:srgbClr val="FBF9F3"/>
          </a:solidFill>
          <a:ln w="9525">
            <a:solidFill>
              <a:srgbClr val="0E141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1152525" y="4254103"/>
            <a:ext cx="588318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144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12768" y="4482703"/>
            <a:ext cx="161240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DEFINING THE LANGUAGE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525" y="5125641"/>
            <a:ext cx="487264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26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Qualities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152525" y="5830491"/>
            <a:ext cx="487264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four physical pillars that turn SkillCorner tracking rows into an analytical vocabulary the system — and the user — can reason about.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64275" y="3939778"/>
            <a:ext cx="5359375" cy="4381500"/>
          </a:xfrm>
          <a:prstGeom prst="roundRect">
            <a:avLst>
              <a:gd name="adj" fmla="val 7797"/>
            </a:avLst>
          </a:prstGeom>
          <a:solidFill>
            <a:srgbClr val="FCF9F4"/>
          </a:solidFill>
          <a:ln w="9525">
            <a:solidFill>
              <a:srgbClr val="DBDAD4"/>
            </a:solidFill>
            <a:prstDash val="solid"/>
          </a:ln>
        </p:spPr>
        <p:txBody>
          <a:bodyPr/>
          <a:lstStyle/>
          <a:p>
            <a:endParaRPr lang="pt-PT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78600" y="4254103"/>
            <a:ext cx="588318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144" dirty="0">
                <a:solidFill>
                  <a:srgbClr val="01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600" dirty="0">
              <a:solidFill>
                <a:srgbClr val="016B2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65718" y="4606528"/>
            <a:ext cx="131980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F4F1EA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CONTEXT LAYER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78600" y="5125641"/>
            <a:ext cx="487264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26" dirty="0">
                <a:solidFill>
                  <a:srgbClr val="0D14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 System</a:t>
            </a:r>
            <a:endParaRPr lang="en-US" sz="4200" dirty="0">
              <a:solidFill>
                <a:srgbClr val="0D140F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78600" y="5830491"/>
            <a:ext cx="487264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a question becomes an answer: intent classification, retrieval of definitions and player context, prompt assembly, grounded narrative output.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7000" y="7764066"/>
            <a:ext cx="8263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INTENT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36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RETRIEVE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36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WORDALISE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36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REFUSE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090350" y="3939778"/>
            <a:ext cx="5359450" cy="4381500"/>
          </a:xfrm>
          <a:prstGeom prst="roundRect">
            <a:avLst>
              <a:gd name="adj" fmla="val 7276"/>
            </a:avLst>
          </a:prstGeom>
          <a:solidFill>
            <a:srgbClr val="FBF9F3"/>
          </a:solidFill>
          <a:ln w="9525">
            <a:solidFill>
              <a:srgbClr val="0E141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12404675" y="4254103"/>
            <a:ext cx="588318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144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5802309" y="4420790"/>
            <a:ext cx="139295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PRODUCT VISION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404675" y="5125641"/>
            <a:ext cx="48727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26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Storyboard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12404675" y="5830491"/>
            <a:ext cx="487272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domains, two depths each — the sporting director's loop from a brief, into a profile, out to alternatives. A working assistant, not a dashboard.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38200" y="942498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838200" y="9605963"/>
            <a:ext cx="391801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MODEL IS THE FOUNDATION. CONTEXT IS THE PRODUCT.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37682" y="9605963"/>
            <a:ext cx="5883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F0D9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2694905" y="1338935"/>
            <a:ext cx="11435426" cy="9250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81350"/>
              </a:lnSpc>
              <a:buNone/>
            </a:pPr>
            <a:r>
              <a:rPr lang="en-US" sz="40000" b="1" kern="0" spc="-2000" dirty="0">
                <a:solidFill>
                  <a:srgbClr val="006B2E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40000" dirty="0"/>
          </a:p>
        </p:txBody>
      </p:sp>
      <p:sp>
        <p:nvSpPr>
          <p:cNvPr id="7" name="Text 5"/>
          <p:cNvSpPr/>
          <p:nvPr/>
        </p:nvSpPr>
        <p:spPr>
          <a:xfrm>
            <a:off x="838200" y="1847404"/>
            <a:ext cx="13538835" cy="473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1000" b="1" kern="0" spc="-1050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Qualities</a:t>
            </a:r>
            <a:r>
              <a:rPr lang="en-US" sz="21000" b="1" kern="0" spc="-1050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838201" y="6069211"/>
            <a:ext cx="7987748" cy="184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950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percentile-based physical dimensions derived from </a:t>
            </a:r>
            <a:r>
              <a:rPr lang="en-US" sz="1950" dirty="0" err="1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SkillCorner</a:t>
            </a:r>
            <a:r>
              <a:rPr lang="en-US" sz="1950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tracking data — transforming raw telemetry into interpretable player profiles.</a:t>
            </a:r>
          </a:p>
          <a:p>
            <a:pPr>
              <a:lnSpc>
                <a:spcPct val="140000"/>
              </a:lnSpc>
            </a:pP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38200" y="8715375"/>
            <a:ext cx="878235" cy="461963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9525">
            <a:solidFill>
              <a:srgbClr val="C8C2B3"/>
            </a:solidFill>
            <a:prstDash val="solid"/>
          </a:ln>
        </p:spPr>
        <p:txBody>
          <a:bodyPr/>
          <a:lstStyle/>
          <a:p>
            <a:pPr algn="ctr"/>
            <a:r>
              <a:rPr lang="pt-PT" sz="1600" dirty="0">
                <a:solidFill>
                  <a:schemeClr val="bg1"/>
                </a:solidFill>
              </a:rPr>
              <a:t>SPEED</a:t>
            </a:r>
          </a:p>
        </p:txBody>
      </p:sp>
      <p:sp>
        <p:nvSpPr>
          <p:cNvPr id="17" name="Shape 15"/>
          <p:cNvSpPr/>
          <p:nvPr/>
        </p:nvSpPr>
        <p:spPr>
          <a:xfrm>
            <a:off x="838200" y="940593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F2558BC-F0CE-A193-1DF3-72F296B4F875}"/>
              </a:ext>
            </a:extLst>
          </p:cNvPr>
          <p:cNvSpPr/>
          <p:nvPr/>
        </p:nvSpPr>
        <p:spPr>
          <a:xfrm>
            <a:off x="1837494" y="8715374"/>
            <a:ext cx="1758737" cy="461963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9525">
            <a:solidFill>
              <a:srgbClr val="C8C2B3"/>
            </a:solidFill>
            <a:prstDash val="solid"/>
          </a:ln>
        </p:spPr>
        <p:txBody>
          <a:bodyPr/>
          <a:lstStyle/>
          <a:p>
            <a:pPr algn="ctr"/>
            <a:r>
              <a:rPr lang="pt-PT" sz="1600" dirty="0">
                <a:solidFill>
                  <a:schemeClr val="bg1"/>
                </a:solidFill>
              </a:rPr>
              <a:t>ACCELERATION</a:t>
            </a: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C3CF2652-3DB5-4B0E-0F53-ED72266B076A}"/>
              </a:ext>
            </a:extLst>
          </p:cNvPr>
          <p:cNvSpPr/>
          <p:nvPr/>
        </p:nvSpPr>
        <p:spPr>
          <a:xfrm>
            <a:off x="3717290" y="8715374"/>
            <a:ext cx="1236871" cy="461963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9525">
            <a:solidFill>
              <a:srgbClr val="C8C2B3"/>
            </a:solidFill>
            <a:prstDash val="solid"/>
          </a:ln>
        </p:spPr>
        <p:txBody>
          <a:bodyPr/>
          <a:lstStyle/>
          <a:p>
            <a:pPr algn="ctr"/>
            <a:r>
              <a:rPr lang="pt-PT" sz="1600" dirty="0">
                <a:solidFill>
                  <a:schemeClr val="bg1"/>
                </a:solidFill>
              </a:rPr>
              <a:t>AGILITY</a:t>
            </a: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612B3286-E125-6B6E-A91D-2002A70404C1}"/>
              </a:ext>
            </a:extLst>
          </p:cNvPr>
          <p:cNvSpPr/>
          <p:nvPr/>
        </p:nvSpPr>
        <p:spPr>
          <a:xfrm>
            <a:off x="5075220" y="8715374"/>
            <a:ext cx="1607878" cy="461963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9525">
            <a:solidFill>
              <a:srgbClr val="C8C2B3"/>
            </a:solidFill>
            <a:prstDash val="solid"/>
          </a:ln>
        </p:spPr>
        <p:txBody>
          <a:bodyPr/>
          <a:lstStyle/>
          <a:p>
            <a:pPr algn="ctr"/>
            <a:r>
              <a:rPr lang="pt-PT" sz="1600" dirty="0">
                <a:solidFill>
                  <a:schemeClr val="bg1"/>
                </a:solidFill>
              </a:rPr>
              <a:t>ENDURANCE</a:t>
            </a: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0C9A55EF-B615-FB37-A5E2-73279A9B6220}"/>
              </a:ext>
            </a:extLst>
          </p:cNvPr>
          <p:cNvSpPr/>
          <p:nvPr/>
        </p:nvSpPr>
        <p:spPr>
          <a:xfrm>
            <a:off x="16937682" y="9605963"/>
            <a:ext cx="5883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15</a:t>
            </a:r>
            <a:endParaRPr lang="en-US" sz="9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1DF2807D-B053-962E-D399-E64DEB20F847}"/>
              </a:ext>
            </a:extLst>
          </p:cNvPr>
          <p:cNvSpPr/>
          <p:nvPr/>
        </p:nvSpPr>
        <p:spPr>
          <a:xfrm>
            <a:off x="838200" y="92868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0E5600AF-7BEA-BFE8-CABA-4C072565C7D0}"/>
              </a:ext>
            </a:extLst>
          </p:cNvPr>
          <p:cNvSpPr/>
          <p:nvPr/>
        </p:nvSpPr>
        <p:spPr>
          <a:xfrm>
            <a:off x="838200" y="609600"/>
            <a:ext cx="286312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01 — MODEL QUALITIES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92868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838200" y="1281113"/>
            <a:ext cx="1710994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FOUR PILLARS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1571625"/>
            <a:ext cx="17109948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900" b="1" kern="0" spc="-241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Speed · Acceleration · Agility · Endurance.</a:t>
            </a:r>
            <a:endParaRPr lang="en-US" sz="6900" dirty="0"/>
          </a:p>
        </p:txBody>
      </p:sp>
      <p:sp>
        <p:nvSpPr>
          <p:cNvPr id="7" name="Shape 5"/>
          <p:cNvSpPr/>
          <p:nvPr/>
        </p:nvSpPr>
        <p:spPr>
          <a:xfrm>
            <a:off x="838200" y="2831902"/>
            <a:ext cx="4010025" cy="6293047"/>
          </a:xfrm>
          <a:prstGeom prst="roundRect">
            <a:avLst>
              <a:gd name="adj" fmla="val 5508"/>
            </a:avLst>
          </a:prstGeom>
          <a:solidFill>
            <a:srgbClr val="FBF9F3"/>
          </a:solidFill>
          <a:ln w="9525">
            <a:solidFill>
              <a:srgbClr val="0E141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1076325" y="2973373"/>
            <a:ext cx="2522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63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6325" y="3321035"/>
            <a:ext cx="3639788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200" b="1" kern="0" spc="-126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Speed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86742" y="3867756"/>
            <a:ext cx="3639788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 sprint velocity. Captures both absolute top speed and the ability to sustain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6325" y="4895624"/>
            <a:ext cx="18270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PSV-99 (Peak Sprint Velocity)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387155" y="4890861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55%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76325" y="5224236"/>
            <a:ext cx="8574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5 PSV-99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387155" y="5219474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45%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5038725" y="2831902"/>
            <a:ext cx="4010025" cy="6293047"/>
          </a:xfrm>
          <a:prstGeom prst="roundRect">
            <a:avLst>
              <a:gd name="adj" fmla="val 5023"/>
            </a:avLst>
          </a:prstGeom>
          <a:solidFill>
            <a:srgbClr val="FCF9F4"/>
          </a:solidFill>
          <a:ln w="9525">
            <a:solidFill>
              <a:srgbClr val="DBDAD4"/>
            </a:solidFill>
            <a:prstDash val="solid"/>
          </a:ln>
        </p:spPr>
        <p:txBody>
          <a:bodyPr/>
          <a:lstStyle/>
          <a:p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76850" y="2973373"/>
            <a:ext cx="2522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63" dirty="0">
                <a:solidFill>
                  <a:srgbClr val="6FD2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47347" y="2997185"/>
            <a:ext cx="153947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EXPLOSIVE · 0→SPRINT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76850" y="3321035"/>
            <a:ext cx="3639788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200" b="1" kern="0" spc="-126" dirty="0">
                <a:solidFill>
                  <a:srgbClr val="0D14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Acceleration</a:t>
            </a:r>
            <a:endParaRPr lang="en-US" sz="4200" dirty="0">
              <a:solidFill>
                <a:srgbClr val="0D140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93569" y="3868799"/>
            <a:ext cx="3639788" cy="700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0D14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quickly a player reaches high speed. Time-to-sprint, time-to-HSR, post-COD acceleration, explosive counts.</a:t>
            </a:r>
            <a:endParaRPr lang="en-US" sz="1200" dirty="0">
              <a:solidFill>
                <a:srgbClr val="0D140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276850" y="5133464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76850" y="4895339"/>
            <a:ext cx="12683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3 Time to Sprint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587680" y="4890576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16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30%</a:t>
            </a:r>
            <a:endParaRPr lang="en-US" sz="975" dirty="0">
              <a:solidFill>
                <a:srgbClr val="016A2E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276850" y="5462076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76850" y="5223951"/>
            <a:ext cx="11399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3 Time to HSR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8587680" y="5219189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16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20%</a:t>
            </a:r>
            <a:endParaRPr lang="en-US" sz="975" dirty="0">
              <a:solidFill>
                <a:srgbClr val="016A2E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276850" y="5790689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76850" y="5552564"/>
            <a:ext cx="19649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3 Time to Sprint (post-COD)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8587680" y="5547801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16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20%</a:t>
            </a:r>
            <a:endParaRPr lang="en-US" sz="975" dirty="0">
              <a:solidFill>
                <a:srgbClr val="016A2E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276850" y="6119301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5276850" y="5881176"/>
            <a:ext cx="18366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3 Time to HSR (post-COD)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8587680" y="5876414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16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975" dirty="0">
              <a:solidFill>
                <a:srgbClr val="016A2E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276850" y="6447914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5276850" y="6209789"/>
            <a:ext cx="18188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Explosive Accel to Sprint P90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8587680" y="6205026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16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975" dirty="0">
              <a:solidFill>
                <a:srgbClr val="016A2E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276850" y="6776526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1" name="Text 39"/>
          <p:cNvSpPr/>
          <p:nvPr/>
        </p:nvSpPr>
        <p:spPr>
          <a:xfrm>
            <a:off x="5276850" y="6538401"/>
            <a:ext cx="169046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Explosive Accel to HSR P90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8587680" y="6533639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16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975" dirty="0">
              <a:solidFill>
                <a:srgbClr val="016A2E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239250" y="2831902"/>
            <a:ext cx="4010025" cy="6293047"/>
          </a:xfrm>
          <a:prstGeom prst="roundRect">
            <a:avLst>
              <a:gd name="adj" fmla="val 5508"/>
            </a:avLst>
          </a:prstGeom>
          <a:solidFill>
            <a:srgbClr val="FBF9F3"/>
          </a:solidFill>
          <a:ln w="9525">
            <a:solidFill>
              <a:srgbClr val="0E141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Text 44"/>
          <p:cNvSpPr/>
          <p:nvPr/>
        </p:nvSpPr>
        <p:spPr>
          <a:xfrm>
            <a:off x="9477375" y="2973373"/>
            <a:ext cx="2522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63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477375" y="3321035"/>
            <a:ext cx="3639788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200" b="1" kern="0" spc="-126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Agility</a:t>
            </a:r>
            <a:endParaRPr lang="en-US" sz="4200" dirty="0"/>
          </a:p>
        </p:txBody>
      </p:sp>
      <p:sp>
        <p:nvSpPr>
          <p:cNvPr id="49" name="Text 47"/>
          <p:cNvSpPr/>
          <p:nvPr/>
        </p:nvSpPr>
        <p:spPr>
          <a:xfrm>
            <a:off x="9477375" y="3867756"/>
            <a:ext cx="3639788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Change of direction. Frequency in match plus 505-test times at 90° and 180°.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477375" y="4911074"/>
            <a:ext cx="19216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Change of Direction Count P90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2788205" y="4906311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50%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9477375" y="5239686"/>
            <a:ext cx="1525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3 Time to 505 @ 90°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2788205" y="5234924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25%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9477375" y="5568299"/>
            <a:ext cx="157832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3 Time to 505 @ 180°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12788205" y="5563536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25%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13439775" y="2831902"/>
            <a:ext cx="4010025" cy="6293047"/>
          </a:xfrm>
          <a:prstGeom prst="roundRect">
            <a:avLst>
              <a:gd name="adj" fmla="val 7449"/>
            </a:avLst>
          </a:prstGeom>
          <a:solidFill>
            <a:srgbClr val="FBF9F3"/>
          </a:solidFill>
          <a:ln w="9525">
            <a:solidFill>
              <a:srgbClr val="0E141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2" name="Text 60"/>
          <p:cNvSpPr/>
          <p:nvPr/>
        </p:nvSpPr>
        <p:spPr>
          <a:xfrm>
            <a:off x="13677900" y="2973373"/>
            <a:ext cx="2522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63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3677900" y="3321035"/>
            <a:ext cx="3639788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200" b="1" kern="0" spc="-126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Endurance</a:t>
            </a:r>
            <a:endParaRPr lang="en-US" sz="4200" dirty="0"/>
          </a:p>
        </p:txBody>
      </p:sp>
      <p:sp>
        <p:nvSpPr>
          <p:cNvPr id="65" name="Text 63"/>
          <p:cNvSpPr/>
          <p:nvPr/>
        </p:nvSpPr>
        <p:spPr>
          <a:xfrm>
            <a:off x="13648087" y="3868799"/>
            <a:ext cx="3639788" cy="700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Sustained output over a match. Metres per minute, total distance, running and high-speed running.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3677900" y="4895339"/>
            <a:ext cx="11736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Metres per Minute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16988730" y="4890576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30%</a:t>
            </a:r>
            <a:endParaRPr lang="en-US" sz="975" dirty="0"/>
          </a:p>
        </p:txBody>
      </p:sp>
      <p:sp>
        <p:nvSpPr>
          <p:cNvPr id="70" name="Text 68"/>
          <p:cNvSpPr/>
          <p:nvPr/>
        </p:nvSpPr>
        <p:spPr>
          <a:xfrm>
            <a:off x="13677900" y="5223951"/>
            <a:ext cx="11894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Distance P90</a:t>
            </a:r>
            <a:endParaRPr lang="en-US" sz="975" dirty="0"/>
          </a:p>
        </p:txBody>
      </p:sp>
      <p:sp>
        <p:nvSpPr>
          <p:cNvPr id="71" name="Text 69"/>
          <p:cNvSpPr/>
          <p:nvPr/>
        </p:nvSpPr>
        <p:spPr>
          <a:xfrm>
            <a:off x="16988730" y="5219189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25%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13677900" y="5552564"/>
            <a:ext cx="13884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Running Distance P90</a:t>
            </a:r>
            <a:endParaRPr lang="en-US" sz="975" dirty="0"/>
          </a:p>
        </p:txBody>
      </p:sp>
      <p:sp>
        <p:nvSpPr>
          <p:cNvPr id="74" name="Text 72"/>
          <p:cNvSpPr/>
          <p:nvPr/>
        </p:nvSpPr>
        <p:spPr>
          <a:xfrm>
            <a:off x="16988730" y="5547801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25%</a:t>
            </a:r>
            <a:endParaRPr lang="en-US" sz="975" dirty="0"/>
          </a:p>
        </p:txBody>
      </p:sp>
      <p:sp>
        <p:nvSpPr>
          <p:cNvPr id="76" name="Text 74"/>
          <p:cNvSpPr/>
          <p:nvPr/>
        </p:nvSpPr>
        <p:spPr>
          <a:xfrm>
            <a:off x="13677900" y="5881176"/>
            <a:ext cx="11321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HSR Distance P90</a:t>
            </a:r>
            <a:endParaRPr lang="en-US" sz="975" dirty="0"/>
          </a:p>
        </p:txBody>
      </p:sp>
      <p:sp>
        <p:nvSpPr>
          <p:cNvPr id="77" name="Text 75"/>
          <p:cNvSpPr/>
          <p:nvPr/>
        </p:nvSpPr>
        <p:spPr>
          <a:xfrm>
            <a:off x="16988730" y="5876414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6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20%</a:t>
            </a:r>
            <a:endParaRPr lang="en-US" sz="975" dirty="0"/>
          </a:p>
        </p:txBody>
      </p:sp>
      <p:sp>
        <p:nvSpPr>
          <p:cNvPr id="81" name="Text 79"/>
          <p:cNvSpPr/>
          <p:nvPr/>
        </p:nvSpPr>
        <p:spPr>
          <a:xfrm>
            <a:off x="838200" y="9605963"/>
            <a:ext cx="678114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LOWER-IS-BETTER METRICS INVERTED IN SCORING · ALL METRICS COMPUTED WITHIN POSITION GROUP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6937682" y="9605963"/>
            <a:ext cx="5883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15</a:t>
            </a:r>
            <a:endParaRPr lang="en-US" sz="900" dirty="0"/>
          </a:p>
        </p:txBody>
      </p:sp>
      <p:sp>
        <p:nvSpPr>
          <p:cNvPr id="83" name="Shape 23">
            <a:extLst>
              <a:ext uri="{FF2B5EF4-FFF2-40B4-BE49-F238E27FC236}">
                <a16:creationId xmlns:a16="http://schemas.microsoft.com/office/drawing/2014/main" id="{1E48112F-A5FC-6377-9486-99F71AA18820}"/>
              </a:ext>
            </a:extLst>
          </p:cNvPr>
          <p:cNvSpPr/>
          <p:nvPr/>
        </p:nvSpPr>
        <p:spPr>
          <a:xfrm>
            <a:off x="1068979" y="5128701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86" name="Shape 23">
            <a:extLst>
              <a:ext uri="{FF2B5EF4-FFF2-40B4-BE49-F238E27FC236}">
                <a16:creationId xmlns:a16="http://schemas.microsoft.com/office/drawing/2014/main" id="{46BEDEC6-0A24-18BD-CE61-DE609C7D3741}"/>
              </a:ext>
            </a:extLst>
          </p:cNvPr>
          <p:cNvSpPr/>
          <p:nvPr/>
        </p:nvSpPr>
        <p:spPr>
          <a:xfrm>
            <a:off x="1076323" y="5466838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89" name="Shape 23">
            <a:extLst>
              <a:ext uri="{FF2B5EF4-FFF2-40B4-BE49-F238E27FC236}">
                <a16:creationId xmlns:a16="http://schemas.microsoft.com/office/drawing/2014/main" id="{766588E6-7772-9D1C-8DB5-2EF1FC4EA8EF}"/>
              </a:ext>
            </a:extLst>
          </p:cNvPr>
          <p:cNvSpPr/>
          <p:nvPr/>
        </p:nvSpPr>
        <p:spPr>
          <a:xfrm>
            <a:off x="9477374" y="5128827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90" name="Shape 23">
            <a:extLst>
              <a:ext uri="{FF2B5EF4-FFF2-40B4-BE49-F238E27FC236}">
                <a16:creationId xmlns:a16="http://schemas.microsoft.com/office/drawing/2014/main" id="{5753AB36-0FAF-3D16-7FCB-E15B78F0DA9E}"/>
              </a:ext>
            </a:extLst>
          </p:cNvPr>
          <p:cNvSpPr/>
          <p:nvPr/>
        </p:nvSpPr>
        <p:spPr>
          <a:xfrm>
            <a:off x="9477373" y="5457313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91" name="Shape 23">
            <a:extLst>
              <a:ext uri="{FF2B5EF4-FFF2-40B4-BE49-F238E27FC236}">
                <a16:creationId xmlns:a16="http://schemas.microsoft.com/office/drawing/2014/main" id="{67D41C5F-7FAF-1F45-C340-C878A6AC0D9C}"/>
              </a:ext>
            </a:extLst>
          </p:cNvPr>
          <p:cNvSpPr/>
          <p:nvPr/>
        </p:nvSpPr>
        <p:spPr>
          <a:xfrm>
            <a:off x="9477372" y="5790688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D7215BC0-65BE-7475-CEE2-A135938C4A6D}"/>
              </a:ext>
            </a:extLst>
          </p:cNvPr>
          <p:cNvSpPr/>
          <p:nvPr/>
        </p:nvSpPr>
        <p:spPr>
          <a:xfrm>
            <a:off x="13677899" y="5131942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93" name="Shape 23">
            <a:extLst>
              <a:ext uri="{FF2B5EF4-FFF2-40B4-BE49-F238E27FC236}">
                <a16:creationId xmlns:a16="http://schemas.microsoft.com/office/drawing/2014/main" id="{0A9D56F8-51F2-50B2-D71D-EA87B30DDE40}"/>
              </a:ext>
            </a:extLst>
          </p:cNvPr>
          <p:cNvSpPr/>
          <p:nvPr/>
        </p:nvSpPr>
        <p:spPr>
          <a:xfrm>
            <a:off x="13677899" y="5460455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94" name="Shape 23">
            <a:extLst>
              <a:ext uri="{FF2B5EF4-FFF2-40B4-BE49-F238E27FC236}">
                <a16:creationId xmlns:a16="http://schemas.microsoft.com/office/drawing/2014/main" id="{A6D60456-0745-FCDD-2D9C-5680954CA8E3}"/>
              </a:ext>
            </a:extLst>
          </p:cNvPr>
          <p:cNvSpPr/>
          <p:nvPr/>
        </p:nvSpPr>
        <p:spPr>
          <a:xfrm>
            <a:off x="13677898" y="5795451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95" name="Shape 23">
            <a:extLst>
              <a:ext uri="{FF2B5EF4-FFF2-40B4-BE49-F238E27FC236}">
                <a16:creationId xmlns:a16="http://schemas.microsoft.com/office/drawing/2014/main" id="{286E022C-BB73-AFCD-B473-A1E3C0950408}"/>
              </a:ext>
            </a:extLst>
          </p:cNvPr>
          <p:cNvSpPr/>
          <p:nvPr/>
        </p:nvSpPr>
        <p:spPr>
          <a:xfrm>
            <a:off x="13671285" y="6109776"/>
            <a:ext cx="35337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solidFill>
              <a:srgbClr val="DFDDD8"/>
            </a:solidFill>
          </a:ln>
        </p:spPr>
        <p:txBody>
          <a:bodyPr/>
          <a:lstStyle/>
          <a:p>
            <a:endParaRPr lang="pt-PT">
              <a:solidFill>
                <a:srgbClr val="0D140F"/>
              </a:solidFill>
            </a:endParaRPr>
          </a:p>
        </p:txBody>
      </p:sp>
      <p:sp>
        <p:nvSpPr>
          <p:cNvPr id="100" name="Shape 22">
            <a:extLst>
              <a:ext uri="{FF2B5EF4-FFF2-40B4-BE49-F238E27FC236}">
                <a16:creationId xmlns:a16="http://schemas.microsoft.com/office/drawing/2014/main" id="{78E4ABAE-C1C2-940D-68DF-831FEAD0E4D8}"/>
              </a:ext>
            </a:extLst>
          </p:cNvPr>
          <p:cNvSpPr/>
          <p:nvPr/>
        </p:nvSpPr>
        <p:spPr>
          <a:xfrm>
            <a:off x="838200" y="942498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3" name="Text 1">
            <a:extLst>
              <a:ext uri="{FF2B5EF4-FFF2-40B4-BE49-F238E27FC236}">
                <a16:creationId xmlns:a16="http://schemas.microsoft.com/office/drawing/2014/main" id="{37228545-D0D2-EE38-7FA9-535B21F55744}"/>
              </a:ext>
            </a:extLst>
          </p:cNvPr>
          <p:cNvSpPr/>
          <p:nvPr/>
        </p:nvSpPr>
        <p:spPr>
          <a:xfrm>
            <a:off x="838200" y="609600"/>
            <a:ext cx="286312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01 — MODEL QUALITIES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Conexão Reta 59">
            <a:extLst>
              <a:ext uri="{FF2B5EF4-FFF2-40B4-BE49-F238E27FC236}">
                <a16:creationId xmlns:a16="http://schemas.microsoft.com/office/drawing/2014/main" id="{172640E6-37EB-BC27-83AA-5AC02C763C3B}"/>
              </a:ext>
            </a:extLst>
          </p:cNvPr>
          <p:cNvCxnSpPr>
            <a:cxnSpLocks/>
          </p:cNvCxnSpPr>
          <p:nvPr/>
        </p:nvCxnSpPr>
        <p:spPr>
          <a:xfrm>
            <a:off x="13401606" y="1467520"/>
            <a:ext cx="0" cy="7289650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B5CBBCB2-5C22-F656-4174-35641E5E7C89}"/>
              </a:ext>
            </a:extLst>
          </p:cNvPr>
          <p:cNvSpPr/>
          <p:nvPr/>
        </p:nvSpPr>
        <p:spPr>
          <a:xfrm>
            <a:off x="13065218" y="1752913"/>
            <a:ext cx="684000" cy="684000"/>
          </a:xfrm>
          <a:prstGeom prst="ellipse">
            <a:avLst/>
          </a:prstGeom>
          <a:solidFill>
            <a:srgbClr val="F4F1EB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 b="1" dirty="0"/>
          </a:p>
        </p:txBody>
      </p:sp>
      <p:sp>
        <p:nvSpPr>
          <p:cNvPr id="2" name="Shape 0"/>
          <p:cNvSpPr/>
          <p:nvPr/>
        </p:nvSpPr>
        <p:spPr>
          <a:xfrm>
            <a:off x="838200" y="92868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838200" y="609600"/>
            <a:ext cx="286312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01 — MODEL QUALITIES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1159" y="4349296"/>
            <a:ext cx="5268367" cy="1431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pt-PT" dirty="0" err="1"/>
              <a:t>Each</a:t>
            </a:r>
            <a:r>
              <a:rPr lang="pt-PT" dirty="0"/>
              <a:t> </a:t>
            </a:r>
            <a:r>
              <a:rPr lang="pt-PT" dirty="0" err="1"/>
              <a:t>pillar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computed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aggregated</a:t>
            </a:r>
            <a:r>
              <a:rPr lang="pt-PT" dirty="0"/>
              <a:t> </a:t>
            </a:r>
            <a:r>
              <a:rPr lang="pt-PT" dirty="0" err="1"/>
              <a:t>tracking</a:t>
            </a:r>
            <a:r>
              <a:rPr lang="pt-PT" dirty="0"/>
              <a:t> </a:t>
            </a:r>
            <a:r>
              <a:rPr lang="pt-PT" dirty="0" err="1"/>
              <a:t>metrics</a:t>
            </a:r>
            <a:r>
              <a:rPr lang="pt-PT" dirty="0"/>
              <a:t>, </a:t>
            </a:r>
            <a:r>
              <a:rPr lang="pt-PT" dirty="0" err="1"/>
              <a:t>normalised</a:t>
            </a:r>
            <a:r>
              <a:rPr lang="pt-PT" dirty="0"/>
              <a:t> </a:t>
            </a:r>
            <a:r>
              <a:rPr lang="pt-PT" dirty="0" err="1"/>
              <a:t>within</a:t>
            </a:r>
            <a:r>
              <a:rPr lang="pt-PT" dirty="0"/>
              <a:t> </a:t>
            </a:r>
            <a:r>
              <a:rPr lang="pt-PT" dirty="0" err="1"/>
              <a:t>position</a:t>
            </a:r>
            <a:r>
              <a:rPr lang="pt-PT" dirty="0"/>
              <a:t> </a:t>
            </a:r>
            <a:r>
              <a:rPr lang="pt-PT" dirty="0" err="1"/>
              <a:t>groups</a:t>
            </a:r>
            <a:r>
              <a:rPr lang="pt-PT" dirty="0"/>
              <a:t>, </a:t>
            </a:r>
            <a:r>
              <a:rPr lang="pt-PT" dirty="0" err="1"/>
              <a:t>weighted</a:t>
            </a:r>
            <a:r>
              <a:rPr lang="pt-PT" dirty="0"/>
              <a:t> </a:t>
            </a:r>
            <a:r>
              <a:rPr lang="pt-PT" dirty="0" err="1"/>
              <a:t>transparently</a:t>
            </a:r>
            <a:r>
              <a:rPr lang="pt-PT" dirty="0"/>
              <a:t>,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converted</a:t>
            </a:r>
            <a:r>
              <a:rPr lang="pt-PT" dirty="0"/>
              <a:t> </a:t>
            </a:r>
            <a:r>
              <a:rPr lang="pt-PT" dirty="0" err="1"/>
              <a:t>into</a:t>
            </a:r>
            <a:r>
              <a:rPr lang="pt-PT" dirty="0"/>
              <a:t> </a:t>
            </a:r>
            <a:r>
              <a:rPr lang="pt-PT" dirty="0" err="1"/>
              <a:t>percentile-based</a:t>
            </a:r>
            <a:r>
              <a:rPr lang="pt-PT" dirty="0"/>
              <a:t> </a:t>
            </a:r>
            <a:r>
              <a:rPr lang="pt-PT" dirty="0" err="1"/>
              <a:t>player</a:t>
            </a:r>
            <a:r>
              <a:rPr lang="pt-PT" dirty="0"/>
              <a:t> </a:t>
            </a:r>
            <a:r>
              <a:rPr lang="pt-PT" dirty="0" err="1"/>
              <a:t>profiles</a:t>
            </a:r>
            <a:r>
              <a:rPr lang="pt-PT" dirty="0"/>
              <a:t>.</a:t>
            </a:r>
          </a:p>
          <a:p>
            <a:pPr>
              <a:lnSpc>
                <a:spcPct val="150000"/>
              </a:lnSpc>
            </a:pP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38200" y="942498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838200" y="9605963"/>
            <a:ext cx="437007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SOURCE: SKILLCORNER PHYSICAL DATA — PREMIER LEAGUE 2024/25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37682" y="9605963"/>
            <a:ext cx="5883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15</a:t>
            </a:r>
            <a:endParaRPr lang="en-US" sz="9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20B4E18D-51E2-5173-BBD6-421C7A2DCD0A}"/>
              </a:ext>
            </a:extLst>
          </p:cNvPr>
          <p:cNvSpPr/>
          <p:nvPr/>
        </p:nvSpPr>
        <p:spPr>
          <a:xfrm>
            <a:off x="11264954" y="1874967"/>
            <a:ext cx="1621848" cy="53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3000" b="1" kern="0" spc="-31" dirty="0">
                <a:solidFill>
                  <a:srgbClr val="1514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Aggregate</a:t>
            </a:r>
            <a:endParaRPr lang="en-US" sz="21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243C425E-B0FA-3E44-C841-DCEA4B16D142}"/>
              </a:ext>
            </a:extLst>
          </p:cNvPr>
          <p:cNvSpPr/>
          <p:nvPr/>
        </p:nvSpPr>
        <p:spPr>
          <a:xfrm>
            <a:off x="10474803" y="2420805"/>
            <a:ext cx="2412000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55000"/>
              </a:lnSpc>
              <a:buNone/>
            </a:pPr>
            <a:r>
              <a:rPr lang="en-US" sz="1100" dirty="0">
                <a:solidFill>
                  <a:srgbClr val="3A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Per‑90 rates, peak metrics and top‑N means rolled up across a full season — never a single match.</a:t>
            </a:r>
            <a:endParaRPr lang="en-US" sz="1100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E9B529A5-2145-D0B9-27C8-785BE26DC606}"/>
              </a:ext>
            </a:extLst>
          </p:cNvPr>
          <p:cNvSpPr/>
          <p:nvPr/>
        </p:nvSpPr>
        <p:spPr>
          <a:xfrm>
            <a:off x="10474802" y="3269708"/>
            <a:ext cx="2412000" cy="9525"/>
          </a:xfrm>
          <a:prstGeom prst="rect">
            <a:avLst/>
          </a:prstGeom>
          <a:solidFill>
            <a:srgbClr val="C8C0A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4174F8DA-48E6-BD8A-F9F8-4ECD5EC7873A}"/>
              </a:ext>
            </a:extLst>
          </p:cNvPr>
          <p:cNvSpPr/>
          <p:nvPr/>
        </p:nvSpPr>
        <p:spPr>
          <a:xfrm>
            <a:off x="10477180" y="3328559"/>
            <a:ext cx="24096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750" kern="0" spc="90" dirty="0">
                <a:solidFill>
                  <a:srgbClr val="6B67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INPUTS · </a:t>
            </a:r>
            <a:r>
              <a:rPr lang="en-US" sz="750" kern="0" spc="90" dirty="0">
                <a:solidFill>
                  <a:srgbClr val="15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~3,200 ROWS / MATCH </a:t>
            </a:r>
            <a:r>
              <a:rPr lang="en-US" sz="750" kern="0" spc="90" dirty="0">
                <a:solidFill>
                  <a:srgbClr val="6B67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FLOOR · </a:t>
            </a:r>
            <a:r>
              <a:rPr lang="en-US" sz="750" kern="0" spc="90" dirty="0">
                <a:solidFill>
                  <a:srgbClr val="15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450 MIN</a:t>
            </a:r>
            <a:endParaRPr lang="en-US" sz="75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F35F7857-B1A3-4F0A-BBE3-ECB1DBDF6590}"/>
              </a:ext>
            </a:extLst>
          </p:cNvPr>
          <p:cNvSpPr/>
          <p:nvPr/>
        </p:nvSpPr>
        <p:spPr>
          <a:xfrm>
            <a:off x="13927634" y="3637465"/>
            <a:ext cx="2073363" cy="556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1" dirty="0">
                <a:solidFill>
                  <a:srgbClr val="1514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Normalise</a:t>
            </a:r>
            <a:endParaRPr lang="en-US" sz="30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E3B4F0F3-D2F6-D6F8-7125-F6CBD3966ED2}"/>
              </a:ext>
            </a:extLst>
          </p:cNvPr>
          <p:cNvSpPr/>
          <p:nvPr/>
        </p:nvSpPr>
        <p:spPr>
          <a:xfrm>
            <a:off x="13927634" y="4257080"/>
            <a:ext cx="2457937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55000"/>
              </a:lnSpc>
              <a:buNone/>
            </a:pPr>
            <a:r>
              <a:rPr lang="en-US" sz="1013" dirty="0">
                <a:solidFill>
                  <a:srgbClr val="3A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Z‑scored within position group. Wide attackers vs wide attackers — never against centre‑backs.</a:t>
            </a:r>
            <a:endParaRPr lang="en-US" sz="1013" dirty="0"/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4F827D2D-EE57-BB87-DC44-75D3961E4A2F}"/>
              </a:ext>
            </a:extLst>
          </p:cNvPr>
          <p:cNvSpPr/>
          <p:nvPr/>
        </p:nvSpPr>
        <p:spPr>
          <a:xfrm>
            <a:off x="13910897" y="5144980"/>
            <a:ext cx="25176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750" kern="0" spc="90" dirty="0">
                <a:solidFill>
                  <a:srgbClr val="6B67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COHORTS · </a:t>
            </a:r>
            <a:r>
              <a:rPr lang="en-US" sz="750" kern="0" spc="90" dirty="0">
                <a:solidFill>
                  <a:srgbClr val="15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GROUPS </a:t>
            </a:r>
            <a:r>
              <a:rPr lang="en-US" sz="750" kern="0" spc="90" dirty="0">
                <a:solidFill>
                  <a:srgbClr val="6B67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METHOD · </a:t>
            </a:r>
            <a:r>
              <a:rPr lang="en-US" sz="750" kern="0" spc="90" dirty="0">
                <a:solidFill>
                  <a:srgbClr val="15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ROBUST Z</a:t>
            </a:r>
            <a:endParaRPr lang="en-US" sz="7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E6FD560-408E-7073-AA6E-3FB1BE59285F}"/>
              </a:ext>
            </a:extLst>
          </p:cNvPr>
          <p:cNvSpPr/>
          <p:nvPr/>
        </p:nvSpPr>
        <p:spPr>
          <a:xfrm>
            <a:off x="13120974" y="1810308"/>
            <a:ext cx="576000" cy="576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01</a:t>
            </a:r>
          </a:p>
        </p:txBody>
      </p:sp>
      <p:sp>
        <p:nvSpPr>
          <p:cNvPr id="83" name="Text 52">
            <a:extLst>
              <a:ext uri="{FF2B5EF4-FFF2-40B4-BE49-F238E27FC236}">
                <a16:creationId xmlns:a16="http://schemas.microsoft.com/office/drawing/2014/main" id="{59A6C9C9-4E0D-9E82-22D5-B111CA07CD26}"/>
              </a:ext>
            </a:extLst>
          </p:cNvPr>
          <p:cNvSpPr/>
          <p:nvPr/>
        </p:nvSpPr>
        <p:spPr>
          <a:xfrm>
            <a:off x="13910897" y="8774788"/>
            <a:ext cx="18497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750" kern="0" spc="90" dirty="0">
                <a:solidFill>
                  <a:srgbClr val="6B67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SCALE · </a:t>
            </a:r>
            <a:r>
              <a:rPr lang="en-US" sz="750" kern="0" spc="90" dirty="0">
                <a:solidFill>
                  <a:srgbClr val="15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— 100 </a:t>
            </a:r>
            <a:r>
              <a:rPr lang="en-US" sz="750" kern="0" spc="90" dirty="0">
                <a:solidFill>
                  <a:srgbClr val="6B67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· </a:t>
            </a:r>
            <a:r>
              <a:rPr lang="en-US" sz="750" kern="0" spc="90" dirty="0">
                <a:solidFill>
                  <a:srgbClr val="15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CITE DIRECTLY</a:t>
            </a:r>
            <a:endParaRPr lang="en-US" sz="75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F8EA1B2-4E71-C374-F1E4-3AA483A96E32}"/>
              </a:ext>
            </a:extLst>
          </p:cNvPr>
          <p:cNvSpPr/>
          <p:nvPr/>
        </p:nvSpPr>
        <p:spPr>
          <a:xfrm>
            <a:off x="13065218" y="3572662"/>
            <a:ext cx="684000" cy="684000"/>
          </a:xfrm>
          <a:prstGeom prst="ellipse">
            <a:avLst/>
          </a:prstGeom>
          <a:solidFill>
            <a:srgbClr val="F4F1EB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 b="1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0085349-807E-0AC6-68C3-D0FD14AE7A8E}"/>
              </a:ext>
            </a:extLst>
          </p:cNvPr>
          <p:cNvSpPr/>
          <p:nvPr/>
        </p:nvSpPr>
        <p:spPr>
          <a:xfrm>
            <a:off x="13120974" y="3630057"/>
            <a:ext cx="576000" cy="576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02</a:t>
            </a:r>
          </a:p>
        </p:txBody>
      </p:sp>
      <p:sp>
        <p:nvSpPr>
          <p:cNvPr id="90" name="Shape 27">
            <a:extLst>
              <a:ext uri="{FF2B5EF4-FFF2-40B4-BE49-F238E27FC236}">
                <a16:creationId xmlns:a16="http://schemas.microsoft.com/office/drawing/2014/main" id="{6261BA5B-59DF-9E56-33DB-3E1ABC07744F}"/>
              </a:ext>
            </a:extLst>
          </p:cNvPr>
          <p:cNvSpPr/>
          <p:nvPr/>
        </p:nvSpPr>
        <p:spPr>
          <a:xfrm>
            <a:off x="13914979" y="5065160"/>
            <a:ext cx="2509448" cy="9525"/>
          </a:xfrm>
          <a:prstGeom prst="rect">
            <a:avLst/>
          </a:prstGeom>
          <a:solidFill>
            <a:srgbClr val="C8C0A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20DEE9E-23A5-2E51-6F96-1034F56125FD}"/>
              </a:ext>
            </a:extLst>
          </p:cNvPr>
          <p:cNvSpPr/>
          <p:nvPr/>
        </p:nvSpPr>
        <p:spPr>
          <a:xfrm>
            <a:off x="13060150" y="5420235"/>
            <a:ext cx="684000" cy="684000"/>
          </a:xfrm>
          <a:prstGeom prst="ellipse">
            <a:avLst/>
          </a:prstGeom>
          <a:solidFill>
            <a:srgbClr val="F4F1EB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 b="1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6ACA2B1-7FCF-D00D-2EC3-4E897523E40A}"/>
              </a:ext>
            </a:extLst>
          </p:cNvPr>
          <p:cNvSpPr/>
          <p:nvPr/>
        </p:nvSpPr>
        <p:spPr>
          <a:xfrm>
            <a:off x="13115906" y="5477630"/>
            <a:ext cx="576000" cy="576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03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445C48E-C07D-8084-FC5C-0EB82108A51A}"/>
              </a:ext>
            </a:extLst>
          </p:cNvPr>
          <p:cNvSpPr/>
          <p:nvPr/>
        </p:nvSpPr>
        <p:spPr>
          <a:xfrm>
            <a:off x="13060150" y="7245803"/>
            <a:ext cx="684000" cy="684000"/>
          </a:xfrm>
          <a:prstGeom prst="ellipse">
            <a:avLst/>
          </a:prstGeom>
          <a:solidFill>
            <a:srgbClr val="F4F1EB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 b="1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845E571B-67AF-E958-5DDD-ED97711F3030}"/>
              </a:ext>
            </a:extLst>
          </p:cNvPr>
          <p:cNvSpPr/>
          <p:nvPr/>
        </p:nvSpPr>
        <p:spPr>
          <a:xfrm>
            <a:off x="13115906" y="7303198"/>
            <a:ext cx="576000" cy="576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04</a:t>
            </a:r>
          </a:p>
        </p:txBody>
      </p:sp>
      <p:sp>
        <p:nvSpPr>
          <p:cNvPr id="96" name="Text 25">
            <a:extLst>
              <a:ext uri="{FF2B5EF4-FFF2-40B4-BE49-F238E27FC236}">
                <a16:creationId xmlns:a16="http://schemas.microsoft.com/office/drawing/2014/main" id="{52E42E66-3AF2-59CD-8A2C-578F72E518D7}"/>
              </a:ext>
            </a:extLst>
          </p:cNvPr>
          <p:cNvSpPr/>
          <p:nvPr/>
        </p:nvSpPr>
        <p:spPr>
          <a:xfrm>
            <a:off x="11266385" y="5506706"/>
            <a:ext cx="1621848" cy="53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 kern="0" spc="-31" dirty="0">
                <a:solidFill>
                  <a:srgbClr val="15140F"/>
                </a:solidFill>
                <a:latin typeface="Fraunces" pitchFamily="34" charset="0"/>
                <a:ea typeface="Fraunces" pitchFamily="34" charset="-122"/>
              </a:rPr>
              <a:t>Weight</a:t>
            </a:r>
            <a:endParaRPr lang="en-US" sz="2100" dirty="0"/>
          </a:p>
        </p:txBody>
      </p:sp>
      <p:sp>
        <p:nvSpPr>
          <p:cNvPr id="97" name="Text 26">
            <a:extLst>
              <a:ext uri="{FF2B5EF4-FFF2-40B4-BE49-F238E27FC236}">
                <a16:creationId xmlns:a16="http://schemas.microsoft.com/office/drawing/2014/main" id="{CE4477CF-F7FF-E100-42DA-B4A10B4E2E03}"/>
              </a:ext>
            </a:extLst>
          </p:cNvPr>
          <p:cNvSpPr/>
          <p:nvPr/>
        </p:nvSpPr>
        <p:spPr>
          <a:xfrm>
            <a:off x="10476234" y="6052544"/>
            <a:ext cx="2412000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>
              <a:lnSpc>
                <a:spcPct val="155000"/>
              </a:lnSpc>
            </a:pPr>
            <a:r>
              <a:rPr lang="en-US" sz="1013" dirty="0">
                <a:solidFill>
                  <a:srgbClr val="3A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pillar is a transparent weighted sum of metric z‑scores. No black‑box ML, every term is auditable.</a:t>
            </a:r>
            <a:endParaRPr lang="en-US" sz="1013" dirty="0"/>
          </a:p>
        </p:txBody>
      </p:sp>
      <p:sp>
        <p:nvSpPr>
          <p:cNvPr id="98" name="Shape 27">
            <a:extLst>
              <a:ext uri="{FF2B5EF4-FFF2-40B4-BE49-F238E27FC236}">
                <a16:creationId xmlns:a16="http://schemas.microsoft.com/office/drawing/2014/main" id="{A1A64EE7-8B41-0455-BFD8-6680C530E604}"/>
              </a:ext>
            </a:extLst>
          </p:cNvPr>
          <p:cNvSpPr/>
          <p:nvPr/>
        </p:nvSpPr>
        <p:spPr>
          <a:xfrm>
            <a:off x="10476233" y="6901447"/>
            <a:ext cx="2412000" cy="9525"/>
          </a:xfrm>
          <a:prstGeom prst="rect">
            <a:avLst/>
          </a:prstGeom>
          <a:solidFill>
            <a:srgbClr val="C8C0A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9" name="Text 28">
            <a:extLst>
              <a:ext uri="{FF2B5EF4-FFF2-40B4-BE49-F238E27FC236}">
                <a16:creationId xmlns:a16="http://schemas.microsoft.com/office/drawing/2014/main" id="{4B9EC24B-5B9D-9BA1-46E6-64D07291370D}"/>
              </a:ext>
            </a:extLst>
          </p:cNvPr>
          <p:cNvSpPr/>
          <p:nvPr/>
        </p:nvSpPr>
        <p:spPr>
          <a:xfrm>
            <a:off x="10478611" y="6960298"/>
            <a:ext cx="24096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>
              <a:lnSpc>
                <a:spcPct val="160000"/>
              </a:lnSpc>
            </a:pPr>
            <a:r>
              <a:rPr lang="en-US" sz="750" kern="0" spc="90" dirty="0">
                <a:solidFill>
                  <a:srgbClr val="6B67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 · </a:t>
            </a:r>
            <a:r>
              <a:rPr lang="en-US" sz="750" kern="0" spc="90" dirty="0">
                <a:solidFill>
                  <a:srgbClr val="15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LINEAR SUM / </a:t>
            </a:r>
            <a:r>
              <a:rPr lang="en-US" sz="750" kern="0" spc="90" dirty="0">
                <a:solidFill>
                  <a:srgbClr val="6B67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 · </a:t>
            </a:r>
            <a:r>
              <a:rPr lang="en-US" sz="750" kern="0" spc="90" dirty="0">
                <a:solidFill>
                  <a:srgbClr val="15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WEIGHTS</a:t>
            </a:r>
            <a:endParaRPr lang="en-US" sz="750" dirty="0"/>
          </a:p>
        </p:txBody>
      </p:sp>
      <p:sp>
        <p:nvSpPr>
          <p:cNvPr id="101" name="Text 33">
            <a:extLst>
              <a:ext uri="{FF2B5EF4-FFF2-40B4-BE49-F238E27FC236}">
                <a16:creationId xmlns:a16="http://schemas.microsoft.com/office/drawing/2014/main" id="{5D94DF8F-6036-C1D7-477D-4CA9C30381F9}"/>
              </a:ext>
            </a:extLst>
          </p:cNvPr>
          <p:cNvSpPr/>
          <p:nvPr/>
        </p:nvSpPr>
        <p:spPr>
          <a:xfrm>
            <a:off x="13923552" y="7319950"/>
            <a:ext cx="2073363" cy="556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1" dirty="0">
                <a:solidFill>
                  <a:srgbClr val="15140F"/>
                </a:solidFill>
                <a:latin typeface="Fraunces" pitchFamily="34" charset="0"/>
                <a:ea typeface="Fraunces" pitchFamily="34" charset="-122"/>
              </a:rPr>
              <a:t>Percentile</a:t>
            </a:r>
            <a:endParaRPr lang="en-US" sz="3000" dirty="0"/>
          </a:p>
        </p:txBody>
      </p:sp>
      <p:sp>
        <p:nvSpPr>
          <p:cNvPr id="102" name="Text 34">
            <a:extLst>
              <a:ext uri="{FF2B5EF4-FFF2-40B4-BE49-F238E27FC236}">
                <a16:creationId xmlns:a16="http://schemas.microsoft.com/office/drawing/2014/main" id="{80B5EBBD-A926-9678-5EA7-D5429F479F76}"/>
              </a:ext>
            </a:extLst>
          </p:cNvPr>
          <p:cNvSpPr/>
          <p:nvPr/>
        </p:nvSpPr>
        <p:spPr>
          <a:xfrm>
            <a:off x="13923552" y="7939565"/>
            <a:ext cx="2457937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13" dirty="0">
                <a:solidFill>
                  <a:srgbClr val="3A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0–100 percentiles inside the position group. Built to be quoted in a sentence by a human.</a:t>
            </a:r>
            <a:endParaRPr lang="en-US" sz="1013" dirty="0"/>
          </a:p>
        </p:txBody>
      </p:sp>
      <p:sp>
        <p:nvSpPr>
          <p:cNvPr id="104" name="Shape 27">
            <a:extLst>
              <a:ext uri="{FF2B5EF4-FFF2-40B4-BE49-F238E27FC236}">
                <a16:creationId xmlns:a16="http://schemas.microsoft.com/office/drawing/2014/main" id="{3E6F4F4F-5742-D606-FE1E-E64CCCDD4A5D}"/>
              </a:ext>
            </a:extLst>
          </p:cNvPr>
          <p:cNvSpPr/>
          <p:nvPr/>
        </p:nvSpPr>
        <p:spPr>
          <a:xfrm>
            <a:off x="13910897" y="8747645"/>
            <a:ext cx="2509448" cy="9525"/>
          </a:xfrm>
          <a:prstGeom prst="rect">
            <a:avLst/>
          </a:prstGeom>
          <a:solidFill>
            <a:srgbClr val="C8C0A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6" name="Text 3">
            <a:extLst>
              <a:ext uri="{FF2B5EF4-FFF2-40B4-BE49-F238E27FC236}">
                <a16:creationId xmlns:a16="http://schemas.microsoft.com/office/drawing/2014/main" id="{DE32047F-7D60-1433-698D-B1CF13A5D23A}"/>
              </a:ext>
            </a:extLst>
          </p:cNvPr>
          <p:cNvSpPr/>
          <p:nvPr/>
        </p:nvSpPr>
        <p:spPr>
          <a:xfrm>
            <a:off x="838200" y="1281113"/>
            <a:ext cx="1710994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FOUR PILLARS</a:t>
            </a:r>
            <a:endParaRPr lang="en-US" sz="105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19793C19-5F23-53A7-53A9-202FD798861A}"/>
              </a:ext>
            </a:extLst>
          </p:cNvPr>
          <p:cNvSpPr/>
          <p:nvPr/>
        </p:nvSpPr>
        <p:spPr>
          <a:xfrm>
            <a:off x="838200" y="1571626"/>
            <a:ext cx="6681673" cy="3310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96000"/>
              </a:lnSpc>
            </a:pPr>
            <a:r>
              <a:rPr lang="en-US" sz="8800" b="1" kern="0" spc="-289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Physical Scoring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3BD8E-F46D-D247-231A-A64BD13C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A84626A3-3876-906A-DE1B-6529B3DF59E5}"/>
              </a:ext>
            </a:extLst>
          </p:cNvPr>
          <p:cNvSpPr/>
          <p:nvPr/>
        </p:nvSpPr>
        <p:spPr>
          <a:xfrm>
            <a:off x="12694905" y="1338935"/>
            <a:ext cx="11435426" cy="9250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81350"/>
              </a:lnSpc>
              <a:buNone/>
            </a:pPr>
            <a:r>
              <a:rPr lang="en-US" sz="40000" b="1" kern="0" spc="-2000" dirty="0">
                <a:solidFill>
                  <a:srgbClr val="006B2E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40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5E8C241-A2E1-50BF-12B2-1DDF4EBC1AC3}"/>
              </a:ext>
            </a:extLst>
          </p:cNvPr>
          <p:cNvSpPr/>
          <p:nvPr/>
        </p:nvSpPr>
        <p:spPr>
          <a:xfrm>
            <a:off x="838200" y="1847404"/>
            <a:ext cx="13538835" cy="473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1000" b="1" kern="0" spc="-1050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Retrieval &amp; Context</a:t>
            </a:r>
            <a:r>
              <a:rPr lang="en-US" sz="21000" b="1" kern="0" spc="-1050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2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AE35FA1-10EC-8D12-0B28-CE4D3B15391A}"/>
              </a:ext>
            </a:extLst>
          </p:cNvPr>
          <p:cNvSpPr/>
          <p:nvPr/>
        </p:nvSpPr>
        <p:spPr>
          <a:xfrm>
            <a:off x="838200" y="940593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35205D99-2823-0E7E-E13F-0515BBB3E69B}"/>
              </a:ext>
            </a:extLst>
          </p:cNvPr>
          <p:cNvSpPr/>
          <p:nvPr/>
        </p:nvSpPr>
        <p:spPr>
          <a:xfrm>
            <a:off x="16937682" y="9605963"/>
            <a:ext cx="5883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15</a:t>
            </a:r>
            <a:endParaRPr lang="en-US" sz="9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955ECEB3-0A91-10F1-2E5F-CA0D55B136F7}"/>
              </a:ext>
            </a:extLst>
          </p:cNvPr>
          <p:cNvSpPr/>
          <p:nvPr/>
        </p:nvSpPr>
        <p:spPr>
          <a:xfrm>
            <a:off x="838200" y="92868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026AC003-BF3F-4A54-03D0-7A02F80576BF}"/>
              </a:ext>
            </a:extLst>
          </p:cNvPr>
          <p:cNvSpPr/>
          <p:nvPr/>
        </p:nvSpPr>
        <p:spPr>
          <a:xfrm>
            <a:off x="838200" y="609600"/>
            <a:ext cx="286312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02 — RETRIEVAL &amp; CONTEXT</a:t>
            </a:r>
            <a:endParaRPr lang="en-US" sz="9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DF2B5496-C9B5-85DC-44CA-353423FE113E}"/>
              </a:ext>
            </a:extLst>
          </p:cNvPr>
          <p:cNvSpPr/>
          <p:nvPr/>
        </p:nvSpPr>
        <p:spPr>
          <a:xfrm>
            <a:off x="838201" y="6069211"/>
            <a:ext cx="8862390" cy="184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950" dirty="0">
                <a:solidFill>
                  <a:srgbClr val="1D25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retrieval-augmented reasoning layer that combines player context, metric definitions, and domain knowledge to generate grounded, explainable football intelligence.</a:t>
            </a:r>
          </a:p>
          <a:p>
            <a:pPr>
              <a:lnSpc>
                <a:spcPct val="140000"/>
              </a:lnSpc>
            </a:pP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2251256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2F0D9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871538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838200" y="571500"/>
            <a:ext cx="8077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87941" y="571500"/>
            <a:ext cx="8077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STORYBOARD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37682" y="571500"/>
            <a:ext cx="5883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8200" y="1109663"/>
            <a:ext cx="13538835" cy="7078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1000" b="1" kern="0" spc="-1050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Vision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21000" b="1" kern="0" spc="-1050" dirty="0">
                <a:solidFill>
                  <a:srgbClr val="0E14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Storyboard</a:t>
            </a:r>
            <a:r>
              <a:rPr lang="en-US" sz="21000" b="1" kern="0" spc="-1050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21000" dirty="0"/>
          </a:p>
        </p:txBody>
      </p:sp>
      <p:sp>
        <p:nvSpPr>
          <p:cNvPr id="15" name="Shape 13"/>
          <p:cNvSpPr/>
          <p:nvPr/>
        </p:nvSpPr>
        <p:spPr>
          <a:xfrm>
            <a:off x="838200" y="9930705"/>
            <a:ext cx="16611600" cy="9525"/>
          </a:xfrm>
          <a:prstGeom prst="rect">
            <a:avLst/>
          </a:prstGeom>
          <a:solidFill>
            <a:srgbClr val="0E1410">
              <a:alpha val="1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838200" y="10092630"/>
            <a:ext cx="219759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SIX FUNCTIONS · ONE ASSISTANT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327883" y="10092630"/>
            <a:ext cx="219811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BRIEF → TARGET → ALTERNATIVES</a:t>
            </a:r>
            <a:endParaRPr lang="en-US" sz="9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909B17A2-8857-13A7-15BF-CFCF8F3A119C}"/>
              </a:ext>
            </a:extLst>
          </p:cNvPr>
          <p:cNvSpPr/>
          <p:nvPr/>
        </p:nvSpPr>
        <p:spPr>
          <a:xfrm>
            <a:off x="12694905" y="1338935"/>
            <a:ext cx="11435426" cy="9250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81350"/>
              </a:lnSpc>
              <a:buNone/>
            </a:pPr>
            <a:r>
              <a:rPr lang="en-US" sz="40000" b="1" kern="0" spc="-2000" dirty="0">
                <a:solidFill>
                  <a:srgbClr val="006B2E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</a:rPr>
              <a:t>03</a:t>
            </a:r>
            <a:endParaRPr lang="en-US" sz="40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8188"/>
            <a:ext cx="16611600" cy="9525"/>
          </a:xfrm>
          <a:prstGeom prst="rect">
            <a:avLst/>
          </a:prstGeom>
          <a:solidFill>
            <a:srgbClr val="F4F1EA">
              <a:alpha val="1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838200" y="457200"/>
            <a:ext cx="5883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F4F1EA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937682" y="457200"/>
            <a:ext cx="5883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F4F1EA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8200" y="1596479"/>
            <a:ext cx="147161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FD2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SKILLCORNER MEASURES. TWELVE REASONS.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8200" y="1915567"/>
            <a:ext cx="14716125" cy="5646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540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model is the foundation. </a:t>
            </a:r>
            <a:r>
              <a:rPr lang="en-US" sz="12000" b="1" kern="0" spc="-540" dirty="0">
                <a:solidFill>
                  <a:srgbClr val="6FD29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</a:t>
            </a:r>
            <a:r>
              <a:rPr lang="en-US" sz="12000" b="1" kern="0" spc="-540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the product</a:t>
            </a:r>
            <a:r>
              <a:rPr lang="en-US" sz="12000" b="1" kern="0" spc="-540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2000" dirty="0"/>
          </a:p>
        </p:txBody>
      </p:sp>
      <p:sp>
        <p:nvSpPr>
          <p:cNvPr id="7" name="Shape 5"/>
          <p:cNvSpPr/>
          <p:nvPr/>
        </p:nvSpPr>
        <p:spPr>
          <a:xfrm>
            <a:off x="838200" y="8258175"/>
            <a:ext cx="16611600" cy="9525"/>
          </a:xfrm>
          <a:prstGeom prst="rect">
            <a:avLst/>
          </a:prstGeom>
          <a:solidFill>
            <a:srgbClr val="F4F1EA">
              <a:alpha val="1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838200" y="8529638"/>
            <a:ext cx="8077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8200" y="8763000"/>
            <a:ext cx="54940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SkillCorner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38200" y="9153525"/>
            <a:ext cx="54940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4F1EA">
                    <a:alpha val="6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Tracking · physical metrics · per-match telemetry. The signals.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477000" y="8529638"/>
            <a:ext cx="4420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77000" y="8763000"/>
            <a:ext cx="54940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Twelve · Context Engineering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477000" y="9153525"/>
            <a:ext cx="54940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4F1EA">
                    <a:alpha val="6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Pillars · retrieval · wordalisation · refusal. The product.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2115800" y="8529638"/>
            <a:ext cx="36887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6C72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115800" y="8763000"/>
            <a:ext cx="54940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6FD29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the six functions.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115800" y="9153525"/>
            <a:ext cx="54940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4F1EA">
                    <a:alpha val="6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wordalisations, three ask-templates, one knowledge base.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838200" y="9558338"/>
            <a:ext cx="16611600" cy="9525"/>
          </a:xfrm>
          <a:prstGeom prst="rect">
            <a:avLst/>
          </a:prstGeom>
          <a:solidFill>
            <a:srgbClr val="F4F1EA">
              <a:alpha val="1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838200" y="9720263"/>
            <a:ext cx="263709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F4F1EA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TWELVE · CONTEXT ENGINEERING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59894" y="9720263"/>
            <a:ext cx="146610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F4F1EA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CTXENG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822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150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0544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036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761</Words>
  <Application>Microsoft Macintosh PowerPoint</Application>
  <PresentationFormat>Personalizados</PresentationFormat>
  <Paragraphs>148</Paragraphs>
  <Slides>12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9" baseType="lpstr">
      <vt:lpstr>Arial</vt:lpstr>
      <vt:lpstr>Fraunces</vt:lpstr>
      <vt:lpstr>Inter</vt:lpstr>
      <vt:lpstr>JetBrains Mono</vt:lpstr>
      <vt:lpstr>Space Grotesk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 Miguel Cardoso Carvalho</cp:lastModifiedBy>
  <cp:revision>4</cp:revision>
  <dcterms:created xsi:type="dcterms:W3CDTF">2026-05-10T13:18:03Z</dcterms:created>
  <dcterms:modified xsi:type="dcterms:W3CDTF">2026-05-10T14:20:16Z</dcterms:modified>
</cp:coreProperties>
</file>