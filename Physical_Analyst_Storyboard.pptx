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A1F"/>
                </a:solidFill>
                <a:latin typeface="Helvetica Neue"/>
              </a:rPr>
              <a:t>TWELVE · CONTEXT ENGINEERING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8ECEB"/>
                </a:solidFill>
                <a:latin typeface="Helvetica Neue"/>
              </a:rPr>
              <a:t>Physical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8BA39A"/>
                </a:solidFill>
                <a:latin typeface="Helvetica Neue"/>
              </a:rPr>
              <a:t>Storyboard for the AI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EA5A1F"/>
                </a:solidFill>
                <a:latin typeface="Helvetica Neue"/>
              </a:rPr>
              <a:t>Three domains. Two depths per domain. Six functions.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8ECEB"/>
                </a:solidFill>
                <a:latin typeface="Helvetica Neue"/>
              </a:rPr>
              <a:t>Liam Henshaw  ·  Pedro Carvalho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BA39A"/>
                </a:solidFill>
                <a:latin typeface="Helvetica Neue"/>
              </a:rPr>
              <a:t>Storyboard review  ·  23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BA39A"/>
                </a:solidFill>
                <a:latin typeface="Helvetica Neue"/>
              </a:rPr>
              <a:t>Final presentation  ·  5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A1F"/>
                </a:solidFill>
                <a:latin typeface="Helvetica Neue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ECEB"/>
                </a:solidFill>
                <a:latin typeface="Helvetica Neue"/>
              </a:rPr>
              <a:t>The receptionist routes to six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A39A"/>
                </a:solidFill>
                <a:latin typeface="Helvetica Neue"/>
              </a:rPr>
              <a:t>Three domains · Two depths each · Pattern from Session 10 (Guzman corner-analyst example)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DOMAIN 1 ·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A39A"/>
                </a:solidFill>
                <a:latin typeface="Helvetica Neue"/>
              </a:rPr>
              <a:t>Who is this player physically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DOMAIN 2 · SIMILARITY /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A39A"/>
                </a:solidFill>
                <a:latin typeface="Helvetica Neue"/>
              </a:rPr>
              <a:t>Player ↔ others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DOMAIN 3 · SHORTLIST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A39A"/>
                </a:solidFill>
                <a:latin typeface="Helvetica Neue"/>
              </a:rPr>
              <a:t>Brief → candidates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EB"/>
                </a:solidFill>
                <a:latin typeface="Helvetica Neue"/>
              </a:rPr>
              <a:t>getPhysicalProfile(player)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Deterministic. Fixed shape.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60604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63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EB"/>
                </a:solidFill>
                <a:latin typeface="Helvetica Neue"/>
              </a:rPr>
              <a:t>findSimilarOrCompare(mode, A, B?)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Deterministic. Fixed shape.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60604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63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EB"/>
                </a:solidFill>
                <a:latin typeface="Helvetica Neue"/>
              </a:rPr>
              <a:t>shortlistByAttribute(metric, pos, league,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661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Deterministic. Fixed shape.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4340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EB"/>
                </a:solidFill>
                <a:latin typeface="Helvetica Neue"/>
              </a:rPr>
              <a:t>askAboutProfile(player, q)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Intent-driven. Refusal baked in.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34340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4480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800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EB"/>
                </a:solidFill>
                <a:latin typeface="Helvetica Neue"/>
              </a:rPr>
              <a:t>askAboutSimilarity(q)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3035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Intent-driven. Refusal baked in.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34340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480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00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EB"/>
                </a:solidFill>
                <a:latin typeface="Helvetica Neue"/>
              </a:rPr>
              <a:t>askShortlistQuestion(brief)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3035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Intent-driven. Refusal baked 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BA39A"/>
                </a:solidFill>
                <a:latin typeface="Helvetica Neue"/>
              </a:rPr>
              <a:t>Ask-question functions reuse each domain's knowledge base — three wordalisations + three ask-templates, not six separate builds.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A39A"/>
                </a:solidFill>
                <a:latin typeface="Helvetica Neue"/>
              </a:rPr>
              <a:t>TWELVE · CONTEXT ENGINEERING 2026 · PHYSICAL ANALYST STORYBOARD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A1F"/>
                </a:solidFill>
                <a:latin typeface="Helvetica Neue"/>
              </a:rPr>
              <a:t>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A1F"/>
                </a:solidFill>
                <a:latin typeface="Helvetica Neue"/>
              </a:rPr>
              <a:t>THE SPORTING DIRECTOR'S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ECEB"/>
                </a:solidFill>
                <a:latin typeface="Helvetica Neue"/>
              </a:rPr>
              <a:t>One loop, three entry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A39A"/>
                </a:solidFill>
                <a:latin typeface="Helvetica Neue"/>
              </a:rPr>
              <a:t>Start from a brief · profile a target · find alternatives or compare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ECEB"/>
                </a:solidFill>
                <a:latin typeface="Helvetica Neue"/>
              </a:rPr>
              <a:t>SHORTLIST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A39A"/>
                </a:solidFill>
                <a:latin typeface="Helvetica Neue"/>
              </a:rPr>
              <a:t>Start from a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8ECEB"/>
                </a:solidFill>
                <a:latin typeface="Helvetica Neue"/>
              </a:rPr>
              <a:t>"Top 5 quickest CBs in the PL"</a:t>
            </a:r>
          </a:p>
          <a:p>
            <a:pPr algn="l"/>
            <a:r>
              <a:rPr sz="1000" b="0" i="1">
                <a:solidFill>
                  <a:srgbClr val="E8ECEB"/>
                </a:solidFill>
                <a:latin typeface="Helvetica Neue"/>
              </a:rPr>
              <a:t>"Quick LB under 24 with endurance"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40" y="2971800"/>
            <a:ext cx="274320" cy="274320"/>
          </a:xfrm>
          <a:prstGeom prst="rightArrow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21945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ECEB"/>
                </a:solidFill>
                <a:latin typeface="Helvetica Neue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089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A39A"/>
                </a:solidFill>
                <a:latin typeface="Helvetica Neue"/>
              </a:rPr>
              <a:t>Describe a known player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42900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8ECEB"/>
                </a:solidFill>
                <a:latin typeface="Helvetica Neue"/>
              </a:rPr>
              <a:t>"What's Gvardiol's profile?"</a:t>
            </a:r>
          </a:p>
          <a:p>
            <a:pPr algn="l"/>
            <a:r>
              <a:rPr sz="1000" b="0" i="1">
                <a:solidFill>
                  <a:srgbClr val="E8ECEB"/>
                </a:solidFill>
                <a:latin typeface="Helvetica Neue"/>
              </a:rPr>
              <a:t>"Is Kane still fit enough?"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72400" y="2971800"/>
            <a:ext cx="274320" cy="274320"/>
          </a:xfrm>
          <a:prstGeom prst="rightArrow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1945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3774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ECEB"/>
                </a:solidFill>
                <a:latin typeface="Helvetica Neue"/>
              </a:rPr>
              <a:t>SIMILAR / 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1089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A39A"/>
                </a:solidFill>
                <a:latin typeface="Helvetica Neue"/>
              </a:rPr>
              <a:t>Pivot to alternatives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42900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8ECEB"/>
                </a:solidFill>
                <a:latin typeface="Helvetica Neue"/>
              </a:rPr>
              <a:t>"Who could replace him in the Bundesliga?"</a:t>
            </a:r>
          </a:p>
          <a:p>
            <a:pPr algn="l"/>
            <a:r>
              <a:rPr sz="1000" b="0" i="1">
                <a:solidFill>
                  <a:srgbClr val="E8ECEB"/>
                </a:solidFill>
                <a:latin typeface="Helvetica Neue"/>
              </a:rPr>
              <a:t>"Compare Saliba vs Konaté"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11247120" cy="173736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A5A1F"/>
                </a:solidFill>
                <a:latin typeface="Helvetica Neue"/>
              </a:rPr>
              <a:t>WHY THIS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CEB"/>
                </a:solidFill>
                <a:latin typeface="Helvetica Neue"/>
              </a:rPr>
              <a:t>Three domains cover a sporting director's real-world loop: brief → target → alternatives.</a:t>
            </a:r>
          </a:p>
          <a:p>
            <a:pPr algn="l"/>
            <a:r>
              <a:rPr sz="1300" b="0" i="0">
                <a:solidFill>
                  <a:srgbClr val="E8ECEB"/>
                </a:solidFill>
                <a:latin typeface="Helvetica Neue"/>
              </a:rPr>
              <a:t>Each domain answers at two depths — a fixed summary for the obvious question, an ask-question</a:t>
            </a:r>
          </a:p>
          <a:p>
            <a:pPr algn="l"/>
            <a:r>
              <a:rPr sz="1300" b="0" i="0">
                <a:solidFill>
                  <a:srgbClr val="E8ECEB"/>
                </a:solidFill>
                <a:latin typeface="Helvetica Neue"/>
              </a:rPr>
              <a:t>function for the nuanced one. Same knowledge base underneath, different prompt on top.</a:t>
            </a:r>
          </a:p>
          <a:p>
            <a:pPr algn="l"/>
            <a:r>
              <a:rPr sz="1300" b="0" i="0">
                <a:solidFill>
                  <a:srgbClr val="E8ECEB"/>
                </a:solidFill>
                <a:latin typeface="Helvetica Neue"/>
              </a:rPr>
              <a:t/>
            </a:r>
          </a:p>
          <a:p>
            <a:pPr algn="l"/>
            <a:r>
              <a:rPr sz="1300" b="0" i="0">
                <a:solidFill>
                  <a:srgbClr val="E8ECEB"/>
                </a:solidFill>
                <a:latin typeface="Helvetica Neue"/>
              </a:rPr>
              <a:t>Scope rules: same position group only for similarity and compare. Rule-based — no ML.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A39A"/>
                </a:solidFill>
                <a:latin typeface="Helvetica Neue"/>
              </a:rPr>
              <a:t>TWELVE · CONTEXT ENGINEERING 2026 · PHYSICAL ANALYST STORYBOARD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A1F"/>
                </a:solidFill>
                <a:latin typeface="Helvetica Neue"/>
              </a:rPr>
              <a:t>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A1F"/>
                </a:solidFill>
                <a:latin typeface="Helvetica Neue"/>
              </a:rPr>
              <a:t>DOMAIN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ECEB"/>
                </a:solidFill>
                <a:latin typeface="Helvetica Neue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A39A"/>
                </a:solidFill>
                <a:latin typeface="Helvetica Neue"/>
              </a:rPr>
              <a:t>Who is this player physically — at two depths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00" cy="36576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SUMMARY · deterministic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EB"/>
                </a:solidFill>
                <a:latin typeface="Helvetica Neue"/>
              </a:rPr>
              <a:t>getPhysicalProfile(player)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EXAMPLE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What's this player's physical profile?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Describe [player]'s physical strengths and weaknesses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Tell me about [player]'s physical 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Narrative in analyst's voice. Four pillars in contribution order, peer-group context, trade-offs flagged.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Wordalisation 1 (already written). Player-only data. Peer group = same position, same season.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ASK-QUESTION · intent-driven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EB"/>
                </a:solidFill>
                <a:latin typeface="Helvetica Neue"/>
              </a:rPr>
              <a:t>askAboutProfile(player, question)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EXAMPLE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Is Gvardiol fast enough for a PL high line?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Does Kane still have the engine to play 90?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Can Salah still press the way he did three years ago?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206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Focused narrative answer to the specific question. Pulls only the relevant pillars. Refuses out-of-scope questions.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760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9893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Same knowledge base as summary. Refusal + redirect pattern built into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A39A"/>
                </a:solidFill>
                <a:latin typeface="Helvetica Neue"/>
              </a:rPr>
              <a:t>TWELVE · CONTEXT ENGINEERING 2026 · PHYSICAL ANALYST STORYBOARD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A1F"/>
                </a:solidFill>
                <a:latin typeface="Helvetica Neue"/>
              </a:rPr>
              <a:t>DOMAIN 1 ·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A1F"/>
                </a:solidFill>
                <a:latin typeface="Helvetica Neue"/>
              </a:rPr>
              <a:t>DOMAIN 2 · SIMILARITY /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ECEB"/>
                </a:solidFill>
                <a:latin typeface="Helvetica Neue"/>
              </a:rPr>
              <a:t>Similarity · 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A39A"/>
                </a:solidFill>
                <a:latin typeface="Helvetica Neue"/>
              </a:rPr>
              <a:t>Player ↔ others — one summary function with two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00" cy="36576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SUMMARY · deterministic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EB"/>
                </a:solidFill>
                <a:latin typeface="Helvetica Neue"/>
              </a:rPr>
              <a:t>findSimilarOrCompare(mode, playerA, playerB?)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EXAMPLE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Who else has a similar physical profile to Gvardiol?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Compare Saliba and Konaté physically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Closest physical match to peak Van Dijk?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mode=similar → top 5 nearest neighbours by cosine similarity.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mode=compare → Twelve-platform radar + narrative summary.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Wordalisation 2 (new). Same-position peer group only. Rule-based similarity, no ML.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ASK-QUESTION · intent-driven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EB"/>
                </a:solidFill>
                <a:latin typeface="Helvetica Neue"/>
              </a:rPr>
              <a:t>askAboutSimilarity(question)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EXAMPLE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If we lose Gvardiol, who in the Bundesliga fits?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Who's physically closer to Rodri — Zubimendi or Caicedo?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Find a centre back under 25 with a similar profile to Saliba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206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Narrative answer that narrows the candidate pool by league, age, or intent before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760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9893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Position-group bound inherited from summary. Tactical 'plays like X' questions refused and redirected to physical archetype.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A39A"/>
                </a:solidFill>
                <a:latin typeface="Helvetica Neue"/>
              </a:rPr>
              <a:t>TWELVE · CONTEXT ENGINEERING 2026 · PHYSICAL ANALYST STORYBOARD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A1F"/>
                </a:solidFill>
                <a:latin typeface="Helvetica Neue"/>
              </a:rPr>
              <a:t>DOMAIN 2 · SIMILARITY /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A1F"/>
                </a:solidFill>
                <a:latin typeface="Helvetica Neue"/>
              </a:rPr>
              <a:t>DOMAIN 3 ·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ECEB"/>
                </a:solidFill>
                <a:latin typeface="Helvetica Neue"/>
              </a:rPr>
              <a:t>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A39A"/>
                </a:solidFill>
                <a:latin typeface="Helvetica Neue"/>
              </a:rPr>
              <a:t>Brief → candidates — structured and free-text entry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00" cy="36576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SUMMARY · deterministic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EB"/>
                </a:solidFill>
                <a:latin typeface="Helvetica Neue"/>
              </a:rPr>
              <a:t>shortlistByAttribute(metric, position, league, 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EXAMPLE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Top 5 quickest centre backs in the Premier League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Fastest wingers in Serie A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Which midfielders cover the most high-intensity distance?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Ranked table — Player | Club | Rank — with a one-line wordalisation flagging the metric each leads 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Wordalisation 3 (new). Rule-based filter + rank. Refuses if metric isn't in the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ASK-QUESTION · intent-driven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EB"/>
                </a:solidFill>
                <a:latin typeface="Helvetica Neue"/>
              </a:rPr>
              <a:t>askShortlistQuestion(brief)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EXAMPLE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Find me a quick LB under 24 with good high-intensity endurance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Who's a physical match for a ball-winning 6 with recovery pace?</a:t>
            </a:r>
          </a:p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•  Shortlist forwards with elite sprint volume across a full 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206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Parses multi-constraint briefs. Ranks candidates, wordalises the shortlist with the metric hook per player.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760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9893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A39A"/>
                </a:solidFill>
                <a:latin typeface="Helvetica Neue"/>
              </a:rPr>
              <a:t>Parameter extraction via LLM (Session 10 annotation pattern). Refuses tactical briefs; answers physical proxies only.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A39A"/>
                </a:solidFill>
                <a:latin typeface="Helvetica Neue"/>
              </a:rPr>
              <a:t>TWELVE · CONTEXT ENGINEERING 2026 · PHYSICAL ANALYST STORYBOARD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A1F"/>
                </a:solidFill>
                <a:latin typeface="Helvetica Neue"/>
              </a:rPr>
              <a:t>DOMAIN 3 · SHORTLIST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A1F"/>
                </a:solidFill>
                <a:latin typeface="Helvetica Neue"/>
              </a:rPr>
              <a:t>SCOPE REFUSAL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ECEB"/>
                </a:solidFill>
                <a:latin typeface="Helvetica Neue"/>
              </a:rPr>
              <a:t>Staying in the physical-data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A39A"/>
                </a:solidFill>
                <a:latin typeface="Helvetica Neue"/>
              </a:rPr>
              <a:t>Baked into every ask-question function. No separate guard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9E6B"/>
                </a:solidFill>
                <a:latin typeface="Helvetica Neue"/>
              </a:rPr>
              <a:t>IN SCOPE · tracking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•  Speed · acceleration · deceleration · top speed</a:t>
            </a:r>
          </a:p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•  Volume — distance, sprints, high-speed runs</a:t>
            </a:r>
          </a:p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•  Intensity — high-intensity distance, repeated sprint ability</a:t>
            </a:r>
          </a:p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•  The four physical pillars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4A3C"/>
                </a:solidFill>
                <a:latin typeface="Helvetica Neue"/>
              </a:rPr>
              <a:t>OUT OF SCOPE · refuse + redirect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•  Tactical — positioning, marking, pressing, system fit</a:t>
            </a:r>
          </a:p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•  Technical — first touch, shooting, passing, finishing</a:t>
            </a:r>
          </a:p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•  Mental — composure, leadership, decision-making</a:t>
            </a:r>
          </a:p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•  Team context — manager fit, teammates, style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92040"/>
            <a:ext cx="3657600" cy="123444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A5A1F"/>
                </a:solidFill>
                <a:latin typeface="Helvetica Neue"/>
              </a:rPr>
              <a:t>1 · ACKNOWLEDGE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Name the question briefly.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4892040"/>
            <a:ext cx="3657600" cy="123444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5074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A5A1F"/>
                </a:solidFill>
                <a:latin typeface="Helvetica Neue"/>
              </a:rPr>
              <a:t>2 · STATE THE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3949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"That's a tactical/technical read I can't speak to."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92040"/>
            <a:ext cx="3657600" cy="123444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074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A5A1F"/>
                </a:solidFill>
                <a:latin typeface="Helvetica Neue"/>
              </a:rPr>
              <a:t>3 · REDIRECT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3949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CEB"/>
                </a:solidFill>
                <a:latin typeface="Helvetica Neue"/>
              </a:rPr>
              <a:t>Pivot to the nearest physical-data angle, or say plainly there isn't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A39A"/>
                </a:solidFill>
                <a:latin typeface="Helvetica Neue"/>
              </a:rPr>
              <a:t>TWELVE · CONTEXT ENGINEERING 2026 · PHYSICAL ANALYST STORYBOARD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A1F"/>
                </a:solidFill>
                <a:latin typeface="Helvetica Neue"/>
              </a:rPr>
              <a:t>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E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A1F"/>
                </a:solidFill>
                <a:latin typeface="Helvetica Neue"/>
              </a:rPr>
              <a:t>SCOPE REFUSAL ·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ECEB"/>
                </a:solidFill>
                <a:latin typeface="Helvetica Neue"/>
              </a:rPr>
              <a:t>Questions the analyst will refuse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A39A"/>
                </a:solidFill>
                <a:latin typeface="Helvetica Neue"/>
              </a:rPr>
              <a:t>Out-of-scope asks the bot won't answer directly — it refuses and redirects to the physical angle instead.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11247120" cy="141732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PROFILE · askAboutProfile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84A3C"/>
                </a:solidFill>
                <a:latin typeface="Helvetica Neue"/>
              </a:rPr>
              <a:t>TACTICAL · REFUSE + REDIRECT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USER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04872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E8ECEB"/>
                </a:solidFill>
                <a:latin typeface="Helvetica Neue"/>
              </a:rPr>
              <a:t>“Is Kane a good finisher?”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70632"/>
            <a:ext cx="9509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Finishing is a technical read I can't speak to — I only have physical data. Kane still shows top-quartile explosive acceleration in the box for a forward his age, and his repeated sprint profile means he's not fading in the 80th minute. Whether he puts the chances away is outside what tracking shows.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11247120" cy="141732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SIMILARITY · askAboutSimilarity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84A3C"/>
                </a:solidFill>
                <a:latin typeface="Helvetica Neue"/>
              </a:rPr>
              <a:t>MENTAL · REFUSE + REDIRECT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USER 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59352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E8ECEB"/>
                </a:solidFill>
                <a:latin typeface="Helvetica Neue"/>
              </a:rPr>
              <a:t>“Find me a leader type like Van Dijk.”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25112"/>
            <a:ext cx="9509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Leadership isn't something tracking data captures. I can give you the physical archetype — CBs with his combination of aerial physicality, recovery speed, and endurance at age 32+. Closest physical matches are [X, Y, Z]. Whether they carry a back line the way he does is a separate judgement.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74920"/>
            <a:ext cx="11247120" cy="1417320"/>
          </a:xfrm>
          <a:prstGeom prst="roundRect">
            <a:avLst>
              <a:gd name="adj" fmla="val 5000"/>
            </a:avLst>
          </a:prstGeom>
          <a:solidFill>
            <a:srgbClr val="18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A1F"/>
                </a:solidFill>
                <a:latin typeface="Helvetica Neue"/>
              </a:rPr>
              <a:t>SHORTLIST · askShortlistQuestion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84A3C"/>
                </a:solidFill>
                <a:latin typeface="Helvetica Neue"/>
              </a:rPr>
              <a:t>TECHNICAL · REFUSE + REDIRECT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USER 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513832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E8ECEB"/>
                </a:solidFill>
                <a:latin typeface="Helvetica Neue"/>
              </a:rPr>
              <a:t>“Find me a CB who can play out from the back.”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A39A"/>
                </a:solidFill>
                <a:latin typeface="Helvetica Neue"/>
              </a:rPr>
              <a:t>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879592"/>
            <a:ext cx="9509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EB"/>
                </a:solidFill>
                <a:latin typeface="Helvetica Neue"/>
              </a:rPr>
              <a:t>Ball-playing ability is technical, outside my scope. I can shortlist CBs whose physical profile matches players known for that role as a proxy — similar endurance, high-intensity running, age band. Caveat: the passing itself you'll need to evaluate separately.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A39A"/>
                </a:solidFill>
                <a:latin typeface="Helvetica Neue"/>
              </a:rPr>
              <a:t>TWELVE · CONTEXT ENGINEERING 2026 · PHYSICAL ANALYST STORYBOARD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A1F"/>
                </a:solidFill>
                <a:latin typeface="Helvetica Neue"/>
              </a:rPr>
              <a:t>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